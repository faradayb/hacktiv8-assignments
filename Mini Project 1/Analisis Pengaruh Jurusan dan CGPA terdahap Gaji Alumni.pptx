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87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08C9-CA99-A94D-43AD-5959EF11F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10D7B-00E1-B659-AEF4-29AA4240D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A343C-4B7B-14DD-46F7-A12E86506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D48AE-5583-C63E-0745-BF6F30A6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8FE99-C964-DEB8-558D-F4357097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384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FBFE-4645-8C09-998A-A130D410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C7128-80BF-9DC4-E2D1-5F2178ACA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6D04A-C83D-3D70-09DD-E2685E51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F91C-F5C9-A341-E93A-D2D0ECDC8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6E276-080D-2807-43AD-052B4CEB5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30956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653CB-8740-A271-9ED1-35A5C9EE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0A395-F304-B9BE-74B1-E39857CCA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5AD02-A3CE-B009-CA20-534079A6B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FC7BE-2B89-724D-6DFF-0D08A273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F6870-BE7D-971B-8C52-C31E221D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570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9CD1-EBD5-6151-3259-D3A3323D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2460-2FD3-65B9-C827-5B3FC9F3B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837C2-1FC0-723D-16D6-AA4503C65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02E1D-06AC-F15E-3823-2B84C5B62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ACFA0-1F9D-ECF1-7C47-C456555B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AB44B-26E8-281E-6578-910FDF93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957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04A3-8952-2B39-A68D-EF550DD6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E970C-8316-A6A0-5046-CBE90D724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A25BD-C823-06CA-9D1F-F344B57C1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FFDB6B-D673-FD17-778D-448F450827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43C8B-8C38-8937-326F-33A782CB8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86C617-2ECF-49DF-D773-841F5011E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5A16E3-147D-F11F-38F7-8F0DDD57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D5069E-253E-3EC3-F262-E3A09B28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0945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C566-9FB5-C0B8-8942-2519B928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BB699A-99A5-7061-5F0B-75D774BD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EE378-8A33-8C4B-8F9C-CA39AA27E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81CD8-C779-2209-7957-5421B524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02427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2EE944-1623-DB89-584D-CBE75E37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A0FB5A-3C92-A62A-D894-33351969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B3BBF-73C3-37FC-4B61-0B9DD6F2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8711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6ED7-948E-E0F8-03AA-1FB48BD98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380CB-A15D-66F1-C45E-2F1F33AC7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E9E46-B6CE-8DCE-FDAD-E1F9CEA2C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7C259-93F5-F603-7119-BD4BBF49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0EDF8-DD4F-201A-C685-927E6C8B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C497A-4FD7-BE5E-879B-1FA0796F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326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CEA2-DAE3-4018-8020-077FF55A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A5DC75-D4F5-DA0F-606A-3740CE2DC7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099967-EEB4-E6AC-F660-2E0C8193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24B05-5F6C-1276-A49C-A3E884DB9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40C1D-2341-0C4C-939D-864D3F6BB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43887-210A-6CA2-4555-ACB91552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1735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2105-6E28-1CE1-F701-DAFA1426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5D2D3-8968-83FC-34BC-8680C8283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FBB55-BD34-B17E-EE58-A122A02D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EE5D5-F9F6-3E8E-B6F6-4B1D50C5E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A1A0D-1C6A-66D4-ED35-ED2A50B2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029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92EB73-D105-73AA-9428-C37B98B36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E52DF-F173-CACA-3917-857354461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C71BB-1BBF-001E-84F6-4DA82AAA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5518F-F3B4-78C0-497D-1FAC7115A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7EAF4-B625-EF90-9E9D-B081B149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870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28E14F-861D-C089-FA6F-B7EB82165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F46E1-F341-E276-3662-5B0B2CC2F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7FAB4-6A6F-7108-A4A9-5C36D220A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012B8-96F9-4B77-82BA-DFBFF19E2BFC}" type="datetimeFigureOut">
              <a:rPr lang="en-ID" smtClean="0"/>
              <a:t>06/05/2026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8374F-F170-7FB5-CECB-994B90A7F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28398-3435-A722-A2A1-D4523ED87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7B418-BA04-4ED9-ADE8-DB9BB29EEEF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210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amaymishra11/student-placement-and-salary-dataset-skills-based?resource=downloa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8493-E61C-8DCD-9EE9-06EB62381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Analisis</a:t>
            </a:r>
            <a:r>
              <a:rPr lang="en-US" sz="4400" dirty="0"/>
              <a:t> </a:t>
            </a:r>
            <a:r>
              <a:rPr lang="en-US" sz="4400" dirty="0" err="1"/>
              <a:t>Pengaruh</a:t>
            </a:r>
            <a:r>
              <a:rPr lang="en-US" sz="4400" dirty="0"/>
              <a:t> </a:t>
            </a:r>
            <a:r>
              <a:rPr lang="en-US" sz="4400" dirty="0" err="1"/>
              <a:t>Jurusan</a:t>
            </a:r>
            <a:r>
              <a:rPr lang="en-US" sz="4400" dirty="0"/>
              <a:t> dan CGPA </a:t>
            </a:r>
            <a:r>
              <a:rPr lang="en-US" sz="4400" dirty="0" err="1"/>
              <a:t>terdahap</a:t>
            </a:r>
            <a:r>
              <a:rPr lang="en-US" sz="4400" dirty="0"/>
              <a:t> </a:t>
            </a:r>
            <a:r>
              <a:rPr lang="en-US" sz="4400" dirty="0" err="1"/>
              <a:t>Gaji</a:t>
            </a:r>
            <a:r>
              <a:rPr lang="en-US" sz="4400" dirty="0"/>
              <a:t> Alumni</a:t>
            </a:r>
            <a:endParaRPr lang="en-ID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6B6FF-1A60-A3FE-7A7E-5CD41C687E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Faraday Barr </a:t>
            </a:r>
            <a:r>
              <a:rPr lang="en-US" dirty="0" err="1"/>
              <a:t>Fatahillah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1142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820AE-89A0-17FF-AF2A-99361B7A1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D3C1-BB62-0AF0-A882-FBE801CA1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950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Era </a:t>
            </a:r>
            <a:r>
              <a:rPr lang="en-US" sz="2400" dirty="0" err="1"/>
              <a:t>persaingan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sangat </a:t>
            </a:r>
            <a:r>
              <a:rPr lang="en-US" sz="2400" dirty="0" err="1"/>
              <a:t>ketat</a:t>
            </a:r>
            <a:r>
              <a:rPr lang="en-US" sz="2400" dirty="0"/>
              <a:t>,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institusi</a:t>
            </a:r>
            <a:r>
              <a:rPr lang="en-US" sz="2400" dirty="0"/>
              <a:t> </a:t>
            </a:r>
            <a:r>
              <a:rPr lang="en-US" sz="2400" dirty="0" err="1"/>
              <a:t>pendidikan</a:t>
            </a:r>
            <a:r>
              <a:rPr lang="en-US" sz="2400" dirty="0"/>
              <a:t> </a:t>
            </a:r>
            <a:r>
              <a:rPr lang="en-US" sz="2400" dirty="0" err="1"/>
              <a:t>perlu</a:t>
            </a:r>
            <a:r>
              <a:rPr lang="en-US" sz="2400" dirty="0"/>
              <a:t> </a:t>
            </a:r>
            <a:r>
              <a:rPr lang="en-US" sz="2400" dirty="0" err="1"/>
              <a:t>memahami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yang </a:t>
            </a:r>
            <a:r>
              <a:rPr lang="en-US" sz="2400" dirty="0" err="1"/>
              <a:t>mempengaruhi</a:t>
            </a:r>
            <a:r>
              <a:rPr lang="en-US" sz="2400" dirty="0"/>
              <a:t> </a:t>
            </a:r>
            <a:r>
              <a:rPr lang="en-US" sz="2400" dirty="0" err="1"/>
              <a:t>gaji</a:t>
            </a:r>
            <a:r>
              <a:rPr lang="en-US" sz="2400" dirty="0"/>
              <a:t> </a:t>
            </a:r>
            <a:r>
              <a:rPr lang="en-US" sz="2400" dirty="0" err="1"/>
              <a:t>lulusan</a:t>
            </a:r>
            <a:r>
              <a:rPr lang="en-US" sz="2400" dirty="0"/>
              <a:t>. Banyak yang </a:t>
            </a:r>
            <a:r>
              <a:rPr lang="en-US" sz="2400" dirty="0" err="1"/>
              <a:t>berasumsi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jurusan</a:t>
            </a:r>
            <a:r>
              <a:rPr lang="en-US" sz="2400" dirty="0"/>
              <a:t> dan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keterkaitan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gaji</a:t>
            </a:r>
            <a:r>
              <a:rPr lang="en-US" sz="2400" dirty="0"/>
              <a:t> yang </a:t>
            </a:r>
            <a:r>
              <a:rPr lang="en-US" sz="2400" dirty="0" err="1"/>
              <a:t>lebih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endParaRPr lang="en-ID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A00C5F-97F7-2BE7-DCBA-896B9B0C908C}"/>
              </a:ext>
            </a:extLst>
          </p:cNvPr>
          <p:cNvSpPr txBox="1">
            <a:spLocks/>
          </p:cNvSpPr>
          <p:nvPr/>
        </p:nvSpPr>
        <p:spPr>
          <a:xfrm>
            <a:off x="838200" y="3362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Objective</a:t>
            </a:r>
            <a:endParaRPr lang="en-ID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4F14F1-4D66-E55B-D39C-8731749421BF}"/>
              </a:ext>
            </a:extLst>
          </p:cNvPr>
          <p:cNvSpPr txBox="1">
            <a:spLocks/>
          </p:cNvSpPr>
          <p:nvPr/>
        </p:nvSpPr>
        <p:spPr>
          <a:xfrm>
            <a:off x="838200" y="4687888"/>
            <a:ext cx="10515600" cy="1603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400" dirty="0" err="1"/>
              <a:t>Menganalisis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jurusan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pengaruh</a:t>
            </a:r>
            <a:r>
              <a:rPr lang="en-US" sz="2400" dirty="0"/>
              <a:t> </a:t>
            </a:r>
            <a:r>
              <a:rPr lang="en-US" sz="2400" dirty="0" err="1"/>
              <a:t>signifikan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gaji</a:t>
            </a:r>
            <a:r>
              <a:rPr lang="en-US" sz="2400" dirty="0"/>
              <a:t> </a:t>
            </a:r>
            <a:r>
              <a:rPr lang="en-US" sz="2400" dirty="0" err="1"/>
              <a:t>lulusan</a:t>
            </a:r>
            <a:endParaRPr lang="en-US" sz="24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400" dirty="0" err="1"/>
              <a:t>Menganalisis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korelasi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gaji</a:t>
            </a:r>
            <a:r>
              <a:rPr lang="en-US" sz="2400" dirty="0"/>
              <a:t> yang di </a:t>
            </a:r>
            <a:r>
              <a:rPr lang="en-US" sz="2400" dirty="0" err="1"/>
              <a:t>peroleh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473686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4B4A-E2D8-DBAF-303B-82F41C50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4306C-2B8A-0377-C885-8D9D17ABA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metode</a:t>
            </a:r>
            <a:r>
              <a:rPr lang="en-ID" dirty="0"/>
              <a:t> SMART:</a:t>
            </a:r>
          </a:p>
          <a:p>
            <a:r>
              <a:rPr lang="en-ID" dirty="0"/>
              <a:t>Specific: </a:t>
            </a:r>
            <a:r>
              <a:rPr lang="en-ID" dirty="0" err="1"/>
              <a:t>Fokus</a:t>
            </a:r>
            <a:r>
              <a:rPr lang="en-ID" dirty="0"/>
              <a:t> pada </a:t>
            </a:r>
            <a:r>
              <a:rPr lang="en-ID" dirty="0" err="1"/>
              <a:t>penelitian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jurusan</a:t>
            </a:r>
            <a:r>
              <a:rPr lang="en-ID" dirty="0"/>
              <a:t> </a:t>
            </a:r>
            <a:r>
              <a:rPr lang="en-ID" dirty="0" err="1"/>
              <a:t>mempengaruhi</a:t>
            </a:r>
            <a:r>
              <a:rPr lang="en-ID" dirty="0"/>
              <a:t> salary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yang lulus,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bayaran</a:t>
            </a:r>
            <a:r>
              <a:rPr lang="en-ID" dirty="0"/>
              <a:t> </a:t>
            </a:r>
            <a:r>
              <a:rPr lang="en-ID" dirty="0" err="1"/>
              <a:t>semakin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kualitas</a:t>
            </a:r>
            <a:r>
              <a:rPr lang="en-ID" dirty="0"/>
              <a:t> </a:t>
            </a:r>
            <a:r>
              <a:rPr lang="en-ID" dirty="0" err="1"/>
              <a:t>mahasiswa</a:t>
            </a:r>
            <a:r>
              <a:rPr lang="en-ID" dirty="0"/>
              <a:t> yang </a:t>
            </a:r>
            <a:r>
              <a:rPr lang="en-ID" dirty="0" err="1"/>
              <a:t>dibutuhkan</a:t>
            </a:r>
            <a:r>
              <a:rPr lang="en-ID" dirty="0"/>
              <a:t>.</a:t>
            </a:r>
          </a:p>
          <a:p>
            <a:r>
              <a:rPr lang="en-ID" dirty="0" err="1"/>
              <a:t>Measureable</a:t>
            </a:r>
            <a:r>
              <a:rPr lang="en-ID" dirty="0"/>
              <a:t>: IPK (CGPA), </a:t>
            </a:r>
            <a:r>
              <a:rPr lang="en-ID" dirty="0" err="1"/>
              <a:t>Jurusan</a:t>
            </a:r>
            <a:r>
              <a:rPr lang="en-ID" dirty="0"/>
              <a:t> (branch) dan Gaji (</a:t>
            </a:r>
            <a:r>
              <a:rPr lang="en-ID" dirty="0" err="1"/>
              <a:t>salary_lpa</a:t>
            </a:r>
            <a:r>
              <a:rPr lang="en-ID" dirty="0"/>
              <a:t>).</a:t>
            </a:r>
          </a:p>
          <a:p>
            <a:r>
              <a:rPr lang="en-ID" dirty="0"/>
              <a:t>Achievable: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jurusan</a:t>
            </a:r>
            <a:r>
              <a:rPr lang="en-ID" dirty="0"/>
              <a:t> mana yang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ditingkatkan</a:t>
            </a:r>
            <a:r>
              <a:rPr lang="en-ID" dirty="0"/>
              <a:t> </a:t>
            </a:r>
            <a:r>
              <a:rPr lang="en-ID" dirty="0" err="1"/>
              <a:t>kurikulumnya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data </a:t>
            </a:r>
            <a:r>
              <a:rPr lang="en-ID" dirty="0" err="1"/>
              <a:t>gaji</a:t>
            </a:r>
            <a:r>
              <a:rPr lang="en-ID" dirty="0"/>
              <a:t> alumni,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rekomendasi</a:t>
            </a:r>
            <a:r>
              <a:rPr lang="en-ID" dirty="0"/>
              <a:t> </a:t>
            </a:r>
            <a:r>
              <a:rPr lang="en-ID" dirty="0" err="1"/>
              <a:t>kepada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</a:t>
            </a:r>
            <a:r>
              <a:rPr lang="en-ID" dirty="0" err="1"/>
              <a:t>akademik</a:t>
            </a:r>
            <a:r>
              <a:rPr lang="en-ID" dirty="0"/>
              <a:t>.</a:t>
            </a:r>
          </a:p>
          <a:p>
            <a:r>
              <a:rPr lang="en-ID" dirty="0"/>
              <a:t>Relevant: </a:t>
            </a:r>
            <a:r>
              <a:rPr lang="en-ID" dirty="0" err="1"/>
              <a:t>Relevan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</a:t>
            </a:r>
            <a:r>
              <a:rPr lang="en-ID" dirty="0" err="1"/>
              <a:t>institusi</a:t>
            </a:r>
            <a:r>
              <a:rPr lang="en-ID" dirty="0"/>
              <a:t> </a:t>
            </a:r>
            <a:r>
              <a:rPr lang="en-ID" dirty="0" err="1"/>
              <a:t>pendidikan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mengevaluasi</a:t>
            </a:r>
            <a:r>
              <a:rPr lang="en-ID" dirty="0"/>
              <a:t> program </a:t>
            </a:r>
            <a:r>
              <a:rPr lang="en-ID" dirty="0" err="1"/>
              <a:t>studi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outcome </a:t>
            </a:r>
            <a:r>
              <a:rPr lang="en-ID" dirty="0" err="1"/>
              <a:t>karir</a:t>
            </a:r>
            <a:r>
              <a:rPr lang="en-ID" dirty="0"/>
              <a:t> </a:t>
            </a:r>
            <a:r>
              <a:rPr lang="en-ID" dirty="0" err="1"/>
              <a:t>lulusan</a:t>
            </a:r>
            <a:r>
              <a:rPr lang="en-ID" dirty="0"/>
              <a:t>, </a:t>
            </a:r>
            <a:r>
              <a:rPr lang="en-ID" dirty="0" err="1"/>
              <a:t>khususnya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sisi</a:t>
            </a:r>
            <a:r>
              <a:rPr lang="en-ID" dirty="0"/>
              <a:t> </a:t>
            </a:r>
            <a:r>
              <a:rPr lang="en-ID" dirty="0" err="1"/>
              <a:t>kompensasi</a:t>
            </a:r>
            <a:r>
              <a:rPr lang="en-ID" dirty="0"/>
              <a:t>.</a:t>
            </a:r>
          </a:p>
          <a:p>
            <a:r>
              <a:rPr lang="en-ID" dirty="0"/>
              <a:t>Time bound: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3 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dataset yang </a:t>
            </a:r>
            <a:r>
              <a:rPr lang="en-ID" dirty="0" err="1"/>
              <a:t>tersedia</a:t>
            </a:r>
            <a:r>
              <a:rPr lang="en-ID" dirty="0"/>
              <a:t>,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bahan</a:t>
            </a:r>
            <a:r>
              <a:rPr lang="en-ID" dirty="0"/>
              <a:t>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akreditasi</a:t>
            </a:r>
            <a:r>
              <a:rPr lang="en-ID" dirty="0"/>
              <a:t> </a:t>
            </a:r>
            <a:r>
              <a:rPr lang="en-ID" dirty="0" err="1"/>
              <a:t>selanjutnya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6884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2969-09F4-E39E-46C1-0E55E188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645B0-F92D-598F-F451-F8AD7406B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Nama Dataset: Student Placement &amp; Salary Dataset (Skills based)</a:t>
            </a:r>
          </a:p>
          <a:p>
            <a:pPr marL="0" indent="0">
              <a:buNone/>
            </a:pPr>
            <a:r>
              <a:rPr lang="en-US" dirty="0" err="1"/>
              <a:t>Sumber</a:t>
            </a:r>
            <a:r>
              <a:rPr lang="en-US" dirty="0"/>
              <a:t>: Kaggle</a:t>
            </a:r>
          </a:p>
          <a:p>
            <a:pPr marL="0" indent="0">
              <a:buNone/>
            </a:pPr>
            <a:r>
              <a:rPr lang="en-US" dirty="0" err="1"/>
              <a:t>Jumlah</a:t>
            </a:r>
            <a:r>
              <a:rPr lang="en-US" dirty="0"/>
              <a:t> Data = 9000 baris dan 20 </a:t>
            </a:r>
            <a:r>
              <a:rPr lang="en-US" dirty="0" err="1"/>
              <a:t>kolom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9D0D7-00B7-1EC0-307D-89430DC07860}"/>
              </a:ext>
            </a:extLst>
          </p:cNvPr>
          <p:cNvSpPr txBox="1"/>
          <p:nvPr/>
        </p:nvSpPr>
        <p:spPr>
          <a:xfrm>
            <a:off x="838200" y="6308209"/>
            <a:ext cx="652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Link Dataset: </a:t>
            </a:r>
            <a:r>
              <a:rPr lang="en-US" dirty="0">
                <a:hlinkClick r:id="rId2"/>
              </a:rPr>
              <a:t>Student Placement &amp; Salary Dataset (Skills based)</a:t>
            </a:r>
            <a:endParaRPr lang="en-ID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62F0083-9EDE-453B-472F-6826AD706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688175"/>
              </p:ext>
            </p:extLst>
          </p:nvPr>
        </p:nvGraphicFramePr>
        <p:xfrm>
          <a:off x="866775" y="3461286"/>
          <a:ext cx="10487025" cy="148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809875">
                  <a:extLst>
                    <a:ext uri="{9D8B030D-6E8A-4147-A177-3AD203B41FA5}">
                      <a16:colId xmlns:a16="http://schemas.microsoft.com/office/drawing/2014/main" val="2547761972"/>
                    </a:ext>
                  </a:extLst>
                </a:gridCol>
                <a:gridCol w="7677150">
                  <a:extLst>
                    <a:ext uri="{9D8B030D-6E8A-4147-A177-3AD203B41FA5}">
                      <a16:colId xmlns:a16="http://schemas.microsoft.com/office/drawing/2014/main" val="1238674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Kolom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Keterangan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530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Jurusan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Mahasiswa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053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cgpa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Nilai IPK </a:t>
                      </a:r>
                      <a:r>
                        <a:rPr lang="en-US" dirty="0" err="1"/>
                        <a:t>dengan</a:t>
                      </a:r>
                      <a:r>
                        <a:rPr lang="en-US" dirty="0"/>
                        <a:t> range </a:t>
                      </a:r>
                      <a:r>
                        <a:rPr lang="en-US" dirty="0" err="1"/>
                        <a:t>dari</a:t>
                      </a:r>
                      <a:r>
                        <a:rPr lang="en-US" dirty="0"/>
                        <a:t> 0 </a:t>
                      </a:r>
                      <a:r>
                        <a:rPr lang="en-US" dirty="0" err="1"/>
                        <a:t>hingga</a:t>
                      </a:r>
                      <a:r>
                        <a:rPr lang="en-US" dirty="0"/>
                        <a:t> 10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94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salary_lpa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Gaji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LPA (Lakh per Annum) </a:t>
                      </a:r>
                      <a:r>
                        <a:rPr lang="en-US" dirty="0" err="1"/>
                        <a:t>berbentuk</a:t>
                      </a:r>
                      <a:r>
                        <a:rPr lang="en-US" dirty="0"/>
                        <a:t> rupees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655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68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0815-FB94-B522-6C00-AE3E1CA7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</a:t>
            </a:r>
            <a:r>
              <a:rPr lang="en-US" dirty="0" err="1"/>
              <a:t>Pengerjaan</a:t>
            </a:r>
            <a:endParaRPr lang="en-ID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862218-647B-7BE4-E38E-DA75F1444BA5}"/>
              </a:ext>
            </a:extLst>
          </p:cNvPr>
          <p:cNvSpPr/>
          <p:nvPr/>
        </p:nvSpPr>
        <p:spPr>
          <a:xfrm>
            <a:off x="838200" y="1790700"/>
            <a:ext cx="1543050" cy="1066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Start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C1FD5-7563-00F3-C834-A3EAEE049EE4}"/>
              </a:ext>
            </a:extLst>
          </p:cNvPr>
          <p:cNvSpPr/>
          <p:nvPr/>
        </p:nvSpPr>
        <p:spPr>
          <a:xfrm>
            <a:off x="3436143" y="1790700"/>
            <a:ext cx="1609725" cy="1066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Data Loading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FC4E9B-1830-BA81-0244-223887D16A78}"/>
              </a:ext>
            </a:extLst>
          </p:cNvPr>
          <p:cNvSpPr/>
          <p:nvPr/>
        </p:nvSpPr>
        <p:spPr>
          <a:xfrm>
            <a:off x="6590109" y="1790700"/>
            <a:ext cx="1609725" cy="1066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Data Cleaning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4CB714-8827-A386-4026-F03EE65D0EE6}"/>
              </a:ext>
            </a:extLst>
          </p:cNvPr>
          <p:cNvSpPr/>
          <p:nvPr/>
        </p:nvSpPr>
        <p:spPr>
          <a:xfrm>
            <a:off x="9744075" y="1790700"/>
            <a:ext cx="1609725" cy="1066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EDA (</a:t>
            </a:r>
            <a:r>
              <a:rPr lang="en-US" dirty="0" err="1">
                <a:solidFill>
                  <a:sysClr val="windowText" lastClr="000000"/>
                </a:solidFill>
              </a:rPr>
              <a:t>Deskriptif</a:t>
            </a:r>
            <a:r>
              <a:rPr lang="en-US" dirty="0">
                <a:solidFill>
                  <a:sysClr val="windowText" lastClr="000000"/>
                </a:solidFill>
              </a:rPr>
              <a:t>)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DF07B6-D79D-0600-A005-A8052FE24705}"/>
              </a:ext>
            </a:extLst>
          </p:cNvPr>
          <p:cNvSpPr/>
          <p:nvPr/>
        </p:nvSpPr>
        <p:spPr>
          <a:xfrm>
            <a:off x="9744074" y="4000501"/>
            <a:ext cx="1609725" cy="1066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EDA</a:t>
            </a:r>
            <a:r>
              <a:rPr lang="en-ID" dirty="0">
                <a:solidFill>
                  <a:sysClr val="windowText" lastClr="000000"/>
                </a:solidFill>
              </a:rPr>
              <a:t> (</a:t>
            </a:r>
            <a:r>
              <a:rPr lang="en-ID" dirty="0" err="1">
                <a:solidFill>
                  <a:sysClr val="windowText" lastClr="000000"/>
                </a:solidFill>
              </a:rPr>
              <a:t>Inferensial</a:t>
            </a:r>
            <a:r>
              <a:rPr lang="en-ID" dirty="0">
                <a:solidFill>
                  <a:sysClr val="windowText" lastClr="000000"/>
                </a:solidFill>
              </a:rPr>
              <a:t>)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6CD628-E4CD-3A01-F495-DC1AF7D49CE7}"/>
              </a:ext>
            </a:extLst>
          </p:cNvPr>
          <p:cNvSpPr/>
          <p:nvPr/>
        </p:nvSpPr>
        <p:spPr>
          <a:xfrm>
            <a:off x="6590109" y="4000501"/>
            <a:ext cx="1609725" cy="1066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Kesimpulan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D8702D-8824-8B17-36F8-096B9F32C29B}"/>
              </a:ext>
            </a:extLst>
          </p:cNvPr>
          <p:cNvSpPr/>
          <p:nvPr/>
        </p:nvSpPr>
        <p:spPr>
          <a:xfrm>
            <a:off x="3502818" y="4000501"/>
            <a:ext cx="1543050" cy="10668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End</a:t>
            </a:r>
            <a:endParaRPr lang="en-ID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56A95E-A498-FE1C-CC64-5D3A64C161ED}"/>
              </a:ext>
            </a:extLst>
          </p:cNvPr>
          <p:cNvCxnSpPr>
            <a:stCxn id="4" idx="6"/>
            <a:endCxn id="5" idx="1"/>
          </p:cNvCxnSpPr>
          <p:nvPr/>
        </p:nvCxnSpPr>
        <p:spPr>
          <a:xfrm>
            <a:off x="2381250" y="2324100"/>
            <a:ext cx="10548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120031-CE6F-C29F-7C00-A65458AEF31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045868" y="2324100"/>
            <a:ext cx="15442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4EA64F-13D7-586D-A99B-B98F0EFE639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199834" y="2324100"/>
            <a:ext cx="15442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7F91AB-B552-538A-D0D9-516988237DD9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10548937" y="2857500"/>
            <a:ext cx="1" cy="1143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F8602C-B4F1-7F5A-BFBE-163A879EBB74}"/>
              </a:ext>
            </a:extLst>
          </p:cNvPr>
          <p:cNvCxnSpPr>
            <a:stCxn id="8" idx="1"/>
            <a:endCxn id="9" idx="3"/>
          </p:cNvCxnSpPr>
          <p:nvPr/>
        </p:nvCxnSpPr>
        <p:spPr>
          <a:xfrm flipH="1">
            <a:off x="8199834" y="4533901"/>
            <a:ext cx="15442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EF1C659-989D-F094-7021-BC5B7C980AC5}"/>
              </a:ext>
            </a:extLst>
          </p:cNvPr>
          <p:cNvCxnSpPr>
            <a:stCxn id="9" idx="1"/>
            <a:endCxn id="10" idx="6"/>
          </p:cNvCxnSpPr>
          <p:nvPr/>
        </p:nvCxnSpPr>
        <p:spPr>
          <a:xfrm flipH="1">
            <a:off x="5045868" y="4533901"/>
            <a:ext cx="15442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12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191F-78BE-AEEF-70BB-199F740F5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F9338-A462-6A59-7B4E-CF9FA54A4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7055" y="1825625"/>
            <a:ext cx="767674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Terdapat</a:t>
            </a:r>
            <a:r>
              <a:rPr lang="en-US" dirty="0"/>
              <a:t> 1298 null values pada </a:t>
            </a:r>
            <a:r>
              <a:rPr lang="en-US" dirty="0" err="1"/>
              <a:t>kolom</a:t>
            </a:r>
            <a:r>
              <a:rPr lang="en-US" dirty="0"/>
              <a:t> </a:t>
            </a:r>
            <a:r>
              <a:rPr lang="en-US" dirty="0" err="1"/>
              <a:t>job_role</a:t>
            </a:r>
            <a:r>
              <a:rPr lang="en-US" dirty="0"/>
              <a:t> dan </a:t>
            </a:r>
            <a:r>
              <a:rPr lang="en-US" dirty="0" err="1"/>
              <a:t>company_type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di hapus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relevan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D" dirty="0"/>
              <a:t>Tidak </a:t>
            </a:r>
            <a:r>
              <a:rPr lang="en-ID" dirty="0" err="1"/>
              <a:t>memiliki</a:t>
            </a:r>
            <a:r>
              <a:rPr lang="en-ID" dirty="0"/>
              <a:t> data </a:t>
            </a:r>
            <a:r>
              <a:rPr lang="en-ID" dirty="0" err="1"/>
              <a:t>duplikat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210F45-8997-DB17-3CC8-3D669284E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4"/>
            <a:ext cx="2096101" cy="38553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2812A-74CA-07A2-9F55-2D870F2DC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677757"/>
            <a:ext cx="2096101" cy="45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68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36ED-959B-C4EC-4CBD-1C4C8D21C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1</a:t>
            </a:r>
            <a:endParaRPr lang="en-ID" dirty="0"/>
          </a:p>
        </p:txBody>
      </p: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C5767909-6BB9-4851-7B54-CBA071A643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1731906"/>
              </p:ext>
            </p:extLst>
          </p:nvPr>
        </p:nvGraphicFramePr>
        <p:xfrm>
          <a:off x="4752833" y="4579968"/>
          <a:ext cx="6600967" cy="1898604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486128">
                  <a:extLst>
                    <a:ext uri="{9D8B030D-6E8A-4147-A177-3AD203B41FA5}">
                      <a16:colId xmlns:a16="http://schemas.microsoft.com/office/drawing/2014/main" val="3761158475"/>
                    </a:ext>
                  </a:extLst>
                </a:gridCol>
                <a:gridCol w="884730">
                  <a:extLst>
                    <a:ext uri="{9D8B030D-6E8A-4147-A177-3AD203B41FA5}">
                      <a16:colId xmlns:a16="http://schemas.microsoft.com/office/drawing/2014/main" val="3922107618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1638948696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943877247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827324067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2980802219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1459892792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664655612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1768746222"/>
                    </a:ext>
                  </a:extLst>
                </a:gridCol>
                <a:gridCol w="570261">
                  <a:extLst>
                    <a:ext uri="{9D8B030D-6E8A-4147-A177-3AD203B41FA5}">
                      <a16:colId xmlns:a16="http://schemas.microsoft.com/office/drawing/2014/main" val="2428371183"/>
                    </a:ext>
                  </a:extLst>
                </a:gridCol>
                <a:gridCol w="668021">
                  <a:extLst>
                    <a:ext uri="{9D8B030D-6E8A-4147-A177-3AD203B41FA5}">
                      <a16:colId xmlns:a16="http://schemas.microsoft.com/office/drawing/2014/main" val="129790179"/>
                    </a:ext>
                  </a:extLst>
                </a:gridCol>
              </a:tblGrid>
              <a:tr h="35713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dirty="0">
                          <a:effectLst/>
                        </a:rPr>
                        <a:t>index</a:t>
                      </a:r>
                      <a:endParaRPr lang="en-ID" sz="1200" dirty="0">
                        <a:effectLst/>
                      </a:endParaRP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branch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mean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median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std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min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max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q1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1200" dirty="0">
                          <a:effectLst/>
                        </a:rPr>
                        <a:t>q3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 err="1">
                          <a:effectLst/>
                        </a:rPr>
                        <a:t>iqr</a:t>
                      </a:r>
                      <a:endParaRPr lang="en-ID" sz="1200" dirty="0">
                        <a:effectLst/>
                      </a:endParaRP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>
                          <a:effectLst/>
                        </a:rPr>
                        <a:t>count</a:t>
                      </a:r>
                    </a:p>
                  </a:txBody>
                  <a:tcPr marL="52263" marR="52263" marT="26132" marB="26132" anchor="ctr"/>
                </a:tc>
                <a:extLst>
                  <a:ext uri="{0D108BD9-81ED-4DB2-BD59-A6C34878D82A}">
                    <a16:rowId xmlns:a16="http://schemas.microsoft.com/office/drawing/2014/main" val="1033017090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200" b="0" dirty="0">
                          <a:effectLst/>
                        </a:rPr>
                        <a:t>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IT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55.71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61.42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27.98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0.0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116.64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43.90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75.44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31.54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1564</a:t>
                      </a:r>
                    </a:p>
                  </a:txBody>
                  <a:tcPr marL="43553" marR="43553" marT="21776" marB="21776" anchor="ctr"/>
                </a:tc>
                <a:extLst>
                  <a:ext uri="{0D108BD9-81ED-4DB2-BD59-A6C34878D82A}">
                    <a16:rowId xmlns:a16="http://schemas.microsoft.com/office/drawing/2014/main" val="1143732106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200" b="0" dirty="0">
                          <a:effectLst/>
                        </a:rPr>
                        <a:t>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Civil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56.15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61.60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27.34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0.0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125.23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43.87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75.61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31.74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1504</a:t>
                      </a:r>
                    </a:p>
                  </a:txBody>
                  <a:tcPr marL="43553" marR="43553" marT="21776" marB="21776" anchor="ctr"/>
                </a:tc>
                <a:extLst>
                  <a:ext uri="{0D108BD9-81ED-4DB2-BD59-A6C34878D82A}">
                    <a16:rowId xmlns:a16="http://schemas.microsoft.com/office/drawing/2014/main" val="1296061592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200" b="0" dirty="0">
                          <a:effectLst/>
                        </a:rPr>
                        <a:t>2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ECE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55.89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60.81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27.85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0.0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119.68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43.55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75.48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31.93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1499</a:t>
                      </a:r>
                    </a:p>
                  </a:txBody>
                  <a:tcPr marL="43553" marR="43553" marT="21776" marB="21776" anchor="ctr"/>
                </a:tc>
                <a:extLst>
                  <a:ext uri="{0D108BD9-81ED-4DB2-BD59-A6C34878D82A}">
                    <a16:rowId xmlns:a16="http://schemas.microsoft.com/office/drawing/2014/main" val="2579235325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200" b="0">
                          <a:effectLst/>
                        </a:rPr>
                        <a:t>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CSE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53.87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57.54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28.18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0.0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123.71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42.52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74.47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31.96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1496</a:t>
                      </a:r>
                    </a:p>
                  </a:txBody>
                  <a:tcPr marL="43553" marR="43553" marT="21776" marB="21776" anchor="ctr"/>
                </a:tc>
                <a:extLst>
                  <a:ext uri="{0D108BD9-81ED-4DB2-BD59-A6C34878D82A}">
                    <a16:rowId xmlns:a16="http://schemas.microsoft.com/office/drawing/2014/main" val="3061760176"/>
                  </a:ext>
                </a:extLst>
              </a:tr>
              <a:tr h="20034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200" b="0" dirty="0">
                          <a:effectLst/>
                        </a:rPr>
                        <a:t>3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EEE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56.31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61.36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27.28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0.0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129.43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44.05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76.26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32.21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1478</a:t>
                      </a:r>
                    </a:p>
                  </a:txBody>
                  <a:tcPr marL="43553" marR="43553" marT="21776" marB="21776" anchor="ctr"/>
                </a:tc>
                <a:extLst>
                  <a:ext uri="{0D108BD9-81ED-4DB2-BD59-A6C34878D82A}">
                    <a16:rowId xmlns:a16="http://schemas.microsoft.com/office/drawing/2014/main" val="1284116001"/>
                  </a:ext>
                </a:extLst>
              </a:tr>
              <a:tr h="35713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D" sz="1200" b="0" dirty="0">
                          <a:effectLst/>
                        </a:rPr>
                        <a:t>5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Mechanical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54.50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59.14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27.33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0.0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124.47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42.83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74.21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>
                          <a:effectLst/>
                        </a:rPr>
                        <a:t>31.38</a:t>
                      </a:r>
                    </a:p>
                  </a:txBody>
                  <a:tcPr marL="43553" marR="43553" marT="21776" marB="217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200" dirty="0">
                          <a:effectLst/>
                        </a:rPr>
                        <a:t>1459</a:t>
                      </a:r>
                    </a:p>
                  </a:txBody>
                  <a:tcPr marL="43553" marR="43553" marT="21776" marB="21776" anchor="ctr"/>
                </a:tc>
                <a:extLst>
                  <a:ext uri="{0D108BD9-81ED-4DB2-BD59-A6C34878D82A}">
                    <a16:rowId xmlns:a16="http://schemas.microsoft.com/office/drawing/2014/main" val="3109824666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B593D958-1B47-F88F-D996-60FED7210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804" y="1731714"/>
            <a:ext cx="5264996" cy="262278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DE98431-3E4C-93F0-30B7-A77B2F970E5D}"/>
              </a:ext>
            </a:extLst>
          </p:cNvPr>
          <p:cNvSpPr txBox="1"/>
          <p:nvPr/>
        </p:nvSpPr>
        <p:spPr>
          <a:xfrm rot="10800000" flipV="1">
            <a:off x="838200" y="1552189"/>
            <a:ext cx="4838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Rata-rata </a:t>
            </a:r>
            <a:r>
              <a:rPr lang="en-ID" dirty="0" err="1"/>
              <a:t>gaji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pada </a:t>
            </a:r>
            <a:r>
              <a:rPr lang="en-ID" dirty="0" err="1"/>
              <a:t>kisaran</a:t>
            </a:r>
            <a:r>
              <a:rPr lang="en-ID" dirty="0"/>
              <a:t> 54 </a:t>
            </a:r>
            <a:r>
              <a:rPr lang="en-ID" dirty="0" err="1"/>
              <a:t>hingga</a:t>
            </a:r>
            <a:r>
              <a:rPr lang="en-ID" dirty="0"/>
              <a:t> 57.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Mechanical dan CSE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rata-rata </a:t>
            </a:r>
            <a:r>
              <a:rPr lang="en-ID" dirty="0" err="1"/>
              <a:t>gaji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rata-rata </a:t>
            </a:r>
            <a:r>
              <a:rPr lang="en-ID" dirty="0" err="1"/>
              <a:t>gaji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5620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4784-D92B-6C9C-1F17-AC7F52593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1 (cont.)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4414-1873-C46D-BA59-BDF579E4D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7211"/>
            <a:ext cx="10515600" cy="695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1400" dirty="0"/>
              <a:t>Pada boxplot yang </a:t>
            </a:r>
            <a:r>
              <a:rPr lang="en-ID" sz="1400" dirty="0" err="1"/>
              <a:t>disediakan</a:t>
            </a:r>
            <a:r>
              <a:rPr lang="en-ID" sz="1400" dirty="0"/>
              <a:t>, </a:t>
            </a:r>
            <a:r>
              <a:rPr lang="en-ID" sz="1400" dirty="0" err="1"/>
              <a:t>semua</a:t>
            </a:r>
            <a:r>
              <a:rPr lang="en-ID" sz="1400" dirty="0"/>
              <a:t> </a:t>
            </a:r>
            <a:r>
              <a:rPr lang="en-ID" sz="1400" dirty="0" err="1"/>
              <a:t>jurusan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alumni yang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gaji</a:t>
            </a:r>
            <a:r>
              <a:rPr lang="en-ID" sz="1400" dirty="0"/>
              <a:t>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belum</a:t>
            </a:r>
            <a:r>
              <a:rPr lang="en-ID" sz="1400" dirty="0"/>
              <a:t> </a:t>
            </a:r>
            <a:r>
              <a:rPr lang="en-ID" sz="1400" dirty="0" err="1"/>
              <a:t>mendapatkan</a:t>
            </a:r>
            <a:r>
              <a:rPr lang="en-ID" sz="1400" dirty="0"/>
              <a:t> </a:t>
            </a:r>
            <a:r>
              <a:rPr lang="en-ID" sz="1400" dirty="0" err="1"/>
              <a:t>pekerjaan</a:t>
            </a:r>
            <a:r>
              <a:rPr lang="en-ID" sz="1400" dirty="0"/>
              <a:t>. Tidak </a:t>
            </a:r>
            <a:r>
              <a:rPr lang="en-ID" sz="1400" dirty="0" err="1"/>
              <a:t>hanya</a:t>
            </a:r>
            <a:r>
              <a:rPr lang="en-ID" sz="1400" dirty="0"/>
              <a:t> </a:t>
            </a:r>
            <a:r>
              <a:rPr lang="en-ID" sz="1400" dirty="0" err="1"/>
              <a:t>itu</a:t>
            </a:r>
            <a:r>
              <a:rPr lang="en-ID" sz="1400" dirty="0"/>
              <a:t>, </a:t>
            </a:r>
            <a:r>
              <a:rPr lang="en-ID" sz="1400" dirty="0" err="1"/>
              <a:t>terdapat</a:t>
            </a:r>
            <a:r>
              <a:rPr lang="en-ID" sz="1400" dirty="0"/>
              <a:t> </a:t>
            </a:r>
            <a:r>
              <a:rPr lang="en-ID" sz="1400" dirty="0" err="1"/>
              <a:t>beberapa</a:t>
            </a:r>
            <a:r>
              <a:rPr lang="en-ID" sz="1400" dirty="0"/>
              <a:t> alumni di </a:t>
            </a:r>
            <a:r>
              <a:rPr lang="en-ID" sz="1400" dirty="0" err="1"/>
              <a:t>beberapa</a:t>
            </a:r>
            <a:r>
              <a:rPr lang="en-ID" sz="1400" dirty="0"/>
              <a:t> </a:t>
            </a:r>
            <a:r>
              <a:rPr lang="en-ID" sz="1400" dirty="0" err="1"/>
              <a:t>jurusan</a:t>
            </a:r>
            <a:r>
              <a:rPr lang="en-ID" sz="1400" dirty="0"/>
              <a:t> yang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gaji</a:t>
            </a:r>
            <a:r>
              <a:rPr lang="en-ID" sz="1400" dirty="0"/>
              <a:t> di </a:t>
            </a:r>
            <a:r>
              <a:rPr lang="en-ID" sz="1400" dirty="0" err="1"/>
              <a:t>atas</a:t>
            </a:r>
            <a:r>
              <a:rPr lang="en-ID" sz="1400" dirty="0"/>
              <a:t> batas </a:t>
            </a:r>
            <a:r>
              <a:rPr lang="en-ID" sz="1400" dirty="0" err="1"/>
              <a:t>atas</a:t>
            </a:r>
            <a:r>
              <a:rPr lang="en-ID" sz="1400" dirty="0"/>
              <a:t> </a:t>
            </a:r>
            <a:r>
              <a:rPr lang="en-ID" sz="1400" dirty="0" err="1"/>
              <a:t>gaji</a:t>
            </a:r>
            <a:r>
              <a:rPr lang="en-ID" sz="1400" dirty="0"/>
              <a:t> per </a:t>
            </a:r>
            <a:r>
              <a:rPr lang="en-ID" sz="1400" dirty="0" err="1"/>
              <a:t>jurusan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yang </a:t>
            </a:r>
            <a:r>
              <a:rPr lang="en-ID" sz="1400" dirty="0" err="1"/>
              <a:t>melebihi</a:t>
            </a:r>
            <a:r>
              <a:rPr lang="en-ID" sz="1400" dirty="0"/>
              <a:t> 120 LPA (Lakh Per Annum).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BF7F1A-E93E-E2A0-F39A-BAB3657C6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690688"/>
            <a:ext cx="5257800" cy="35405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0646C2-A829-C25D-6C21-0AECF6050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90688"/>
            <a:ext cx="5257801" cy="410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811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0CBE-75F8-93E2-1454-1C6BC2AAB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Hipotesis</a:t>
            </a:r>
            <a:r>
              <a:rPr lang="en-US" dirty="0"/>
              <a:t> 1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9C19F-6C6D-E7C6-FF60-E7E9F592D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H0: Tidak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rata-rata </a:t>
            </a:r>
            <a:r>
              <a:rPr lang="en-ID" dirty="0" err="1"/>
              <a:t>gaji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jurusan</a:t>
            </a:r>
            <a:endParaRPr lang="en-ID" dirty="0"/>
          </a:p>
          <a:p>
            <a:r>
              <a:rPr lang="en-ID" dirty="0"/>
              <a:t>H1: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setidaknya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rata-rata </a:t>
            </a:r>
            <a:r>
              <a:rPr lang="en-ID" dirty="0" err="1"/>
              <a:t>gaji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jurusan</a:t>
            </a: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35874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599C-A4BB-2906-FAB0-8A8E95CA3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Cek </a:t>
            </a:r>
            <a:r>
              <a:rPr lang="en-US" dirty="0" err="1"/>
              <a:t>Normalitas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6963E-D251-A232-24A3-F296BEE6E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700" y="2489199"/>
            <a:ext cx="4991100" cy="3687763"/>
          </a:xfrm>
        </p:spPr>
        <p:txBody>
          <a:bodyPr/>
          <a:lstStyle/>
          <a:p>
            <a:r>
              <a:rPr lang="en-US" dirty="0" err="1"/>
              <a:t>Visualisasi</a:t>
            </a:r>
            <a:r>
              <a:rPr lang="en-US" dirty="0"/>
              <a:t> histogram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dataset </a:t>
            </a:r>
            <a:r>
              <a:rPr lang="en-US" dirty="0" err="1"/>
              <a:t>tidak</a:t>
            </a:r>
            <a:r>
              <a:rPr lang="en-US" dirty="0"/>
              <a:t> normal</a:t>
            </a:r>
          </a:p>
          <a:p>
            <a:r>
              <a:rPr lang="en-US" dirty="0"/>
              <a:t>Hasil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skew </a:t>
            </a:r>
            <a:r>
              <a:rPr lang="en-US" dirty="0" err="1"/>
              <a:t>menentukan</a:t>
            </a:r>
            <a:r>
              <a:rPr lang="en-US" dirty="0"/>
              <a:t> dataset </a:t>
            </a:r>
            <a:r>
              <a:rPr lang="en-US" dirty="0" err="1"/>
              <a:t>tidak</a:t>
            </a:r>
            <a:r>
              <a:rPr lang="en-US" dirty="0"/>
              <a:t> normal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54255-72BC-7623-7757-01A179A80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524500" cy="4314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BCA91A-DD89-DCA3-DBB9-AEA46E7E7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1825625"/>
            <a:ext cx="5017639" cy="3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01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5D9A1-D943-AA32-F342-BC85D896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Cek Korelasi dan </a:t>
            </a:r>
            <a:r>
              <a:rPr lang="en-US" dirty="0" err="1"/>
              <a:t>Tes</a:t>
            </a:r>
            <a:r>
              <a:rPr lang="en-US" dirty="0"/>
              <a:t> </a:t>
            </a:r>
            <a:r>
              <a:rPr lang="en-US" dirty="0" err="1"/>
              <a:t>Hipotesis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BD6C3-3DEF-6E54-500F-928AF3C2D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825625"/>
            <a:ext cx="5105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p-value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0.075 (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0.05),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gagal</a:t>
            </a:r>
            <a:r>
              <a:rPr lang="en-ID" dirty="0"/>
              <a:t> </a:t>
            </a:r>
            <a:r>
              <a:rPr lang="en-ID" dirty="0" err="1"/>
              <a:t>menolak</a:t>
            </a:r>
            <a:r>
              <a:rPr lang="en-ID" dirty="0"/>
              <a:t> </a:t>
            </a:r>
            <a:r>
              <a:rPr lang="en-ID" dirty="0" err="1"/>
              <a:t>hipotesis</a:t>
            </a:r>
            <a:r>
              <a:rPr lang="en-ID" dirty="0"/>
              <a:t> H0. 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dirty="0"/>
              <a:t>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mengindikasi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statistik</a:t>
            </a:r>
            <a:r>
              <a:rPr lang="en-ID" dirty="0"/>
              <a:t> pada </a:t>
            </a:r>
            <a:r>
              <a:rPr lang="en-ID" dirty="0" err="1"/>
              <a:t>gaji</a:t>
            </a:r>
            <a:r>
              <a:rPr lang="en-ID" dirty="0"/>
              <a:t> alumni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jurusan</a:t>
            </a:r>
            <a:r>
              <a:rPr lang="en-ID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2B0B86-D89B-9B80-AC9C-9EBA93F74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949613"/>
            <a:ext cx="5257801" cy="4793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EC4BFD-4F7D-1A70-A64F-14C874AC6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3747788"/>
            <a:ext cx="5257801" cy="94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16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BDF8-8067-421F-7A4C-0BF1DDE18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2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A96E4-5487-099F-95BB-8A0F1005F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1100" y="1825625"/>
            <a:ext cx="5092700" cy="4351338"/>
          </a:xfrm>
        </p:spPr>
        <p:txBody>
          <a:bodyPr/>
          <a:lstStyle/>
          <a:p>
            <a:r>
              <a:rPr lang="en-US" dirty="0"/>
              <a:t>Rata-rata CGPA </a:t>
            </a:r>
            <a:r>
              <a:rPr lang="en-US" dirty="0" err="1"/>
              <a:t>adalah</a:t>
            </a:r>
            <a:r>
              <a:rPr lang="en-US" dirty="0"/>
              <a:t> 7.5</a:t>
            </a:r>
          </a:p>
          <a:p>
            <a:r>
              <a:rPr lang="en-US" dirty="0" err="1"/>
              <a:t>Memiliki</a:t>
            </a:r>
            <a:r>
              <a:rPr lang="en-US" dirty="0"/>
              <a:t> median yang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rata-rata, </a:t>
            </a:r>
            <a:r>
              <a:rPr lang="en-US" dirty="0" err="1"/>
              <a:t>yaitu</a:t>
            </a:r>
            <a:r>
              <a:rPr lang="en-US" dirty="0"/>
              <a:t> 7.5</a:t>
            </a:r>
          </a:p>
          <a:p>
            <a:r>
              <a:rPr lang="en-US" dirty="0" err="1"/>
              <a:t>Terdapat</a:t>
            </a:r>
            <a:r>
              <a:rPr lang="en-US" dirty="0"/>
              <a:t> CGPA </a:t>
            </a:r>
            <a:r>
              <a:rPr lang="en-US" dirty="0" err="1"/>
              <a:t>tertinggi</a:t>
            </a:r>
            <a:r>
              <a:rPr lang="en-US" dirty="0"/>
              <a:t> 10 (perfect score)</a:t>
            </a:r>
          </a:p>
          <a:p>
            <a:r>
              <a:rPr lang="en-US" dirty="0" err="1"/>
              <a:t>Terdapat</a:t>
            </a:r>
            <a:r>
              <a:rPr lang="en-US" dirty="0"/>
              <a:t> CGPA </a:t>
            </a:r>
            <a:r>
              <a:rPr lang="en-US" dirty="0" err="1"/>
              <a:t>terendah</a:t>
            </a:r>
            <a:r>
              <a:rPr lang="en-US" dirty="0"/>
              <a:t> 5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4351A-C36C-9B98-0DB6-17EB74B1C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9432"/>
            <a:ext cx="5257800" cy="310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2DDE-5BA0-54E5-48E4-A10A7735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Statistika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 2 (cont.)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293F-DD11-F456-5791-AD5A341AA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1600" y="1825625"/>
            <a:ext cx="36322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400" dirty="0" err="1"/>
              <a:t>Visualisasi</a:t>
            </a:r>
            <a:r>
              <a:rPr lang="en-ID" sz="2400" dirty="0"/>
              <a:t> </a:t>
            </a:r>
            <a:r>
              <a:rPr lang="en-ID" sz="2400" dirty="0" err="1"/>
              <a:t>ini</a:t>
            </a:r>
            <a:r>
              <a:rPr lang="en-ID" sz="2400" dirty="0"/>
              <a:t> </a:t>
            </a:r>
            <a:r>
              <a:rPr lang="en-ID" sz="2400" dirty="0" err="1"/>
              <a:t>menggambarkan</a:t>
            </a:r>
            <a:r>
              <a:rPr lang="en-ID" sz="2400" dirty="0"/>
              <a:t> </a:t>
            </a:r>
            <a:r>
              <a:rPr lang="en-ID" sz="2400" dirty="0" err="1"/>
              <a:t>bahwa</a:t>
            </a:r>
            <a:r>
              <a:rPr lang="en-ID" sz="2400" dirty="0"/>
              <a:t> </a:t>
            </a:r>
            <a:r>
              <a:rPr lang="en-ID" sz="2400" dirty="0" err="1"/>
              <a:t>terdapat</a:t>
            </a:r>
            <a:r>
              <a:rPr lang="en-ID" sz="2400" dirty="0"/>
              <a:t> </a:t>
            </a:r>
            <a:r>
              <a:rPr lang="en-ID" sz="2400" dirty="0" err="1"/>
              <a:t>kenaikan</a:t>
            </a:r>
            <a:r>
              <a:rPr lang="en-ID" sz="2400" dirty="0"/>
              <a:t> pada </a:t>
            </a:r>
            <a:r>
              <a:rPr lang="en-ID" sz="2400" dirty="0" err="1"/>
              <a:t>kurva</a:t>
            </a:r>
            <a:r>
              <a:rPr lang="en-ID" sz="2400" dirty="0"/>
              <a:t> </a:t>
            </a:r>
            <a:r>
              <a:rPr lang="en-ID" sz="2400" dirty="0" err="1"/>
              <a:t>regresi</a:t>
            </a:r>
            <a:r>
              <a:rPr lang="en-ID" sz="2400" dirty="0"/>
              <a:t> </a:t>
            </a:r>
            <a:r>
              <a:rPr lang="en-ID" sz="2400" dirty="0" err="1"/>
              <a:t>berwarna</a:t>
            </a:r>
            <a:r>
              <a:rPr lang="en-ID" sz="2400" dirty="0"/>
              <a:t> </a:t>
            </a:r>
            <a:r>
              <a:rPr lang="en-ID" sz="2400" dirty="0" err="1"/>
              <a:t>merah</a:t>
            </a:r>
            <a:r>
              <a:rPr lang="en-ID" sz="2400" dirty="0"/>
              <a:t>. </a:t>
            </a:r>
          </a:p>
          <a:p>
            <a:pPr marL="0" indent="0">
              <a:buNone/>
            </a:pPr>
            <a:endParaRPr lang="en-ID" sz="2400" dirty="0"/>
          </a:p>
          <a:p>
            <a:pPr marL="0" indent="0">
              <a:buNone/>
            </a:pPr>
            <a:r>
              <a:rPr lang="en-ID" sz="2400" dirty="0"/>
              <a:t>Jika </a:t>
            </a:r>
            <a:r>
              <a:rPr lang="en-ID" sz="2400" dirty="0" err="1"/>
              <a:t>dilihat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kurva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, </a:t>
            </a:r>
            <a:r>
              <a:rPr lang="en-ID" sz="2400" dirty="0" err="1"/>
              <a:t>semakin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 </a:t>
            </a:r>
            <a:r>
              <a:rPr lang="en-ID" sz="2400" dirty="0" err="1"/>
              <a:t>nilai</a:t>
            </a:r>
            <a:r>
              <a:rPr lang="en-ID" sz="2400" dirty="0"/>
              <a:t> yang </a:t>
            </a:r>
            <a:r>
              <a:rPr lang="en-ID" sz="2400" dirty="0" err="1"/>
              <a:t>diperoleh</a:t>
            </a:r>
            <a:r>
              <a:rPr lang="en-ID" sz="2400" dirty="0"/>
              <a:t>, </a:t>
            </a:r>
            <a:r>
              <a:rPr lang="en-ID" sz="2400" dirty="0" err="1"/>
              <a:t>semakin</a:t>
            </a:r>
            <a:r>
              <a:rPr lang="en-ID" sz="2400" dirty="0"/>
              <a:t> </a:t>
            </a:r>
            <a:r>
              <a:rPr lang="en-ID" sz="2400" dirty="0" err="1"/>
              <a:t>besar</a:t>
            </a:r>
            <a:r>
              <a:rPr lang="en-ID" sz="2400" dirty="0"/>
              <a:t> juga </a:t>
            </a:r>
            <a:r>
              <a:rPr lang="en-ID" sz="2400" dirty="0" err="1"/>
              <a:t>gaji</a:t>
            </a:r>
            <a:r>
              <a:rPr lang="en-ID" sz="2400" dirty="0"/>
              <a:t> yang </a:t>
            </a:r>
            <a:r>
              <a:rPr lang="en-ID" sz="2400" dirty="0" err="1"/>
              <a:t>dimiliki</a:t>
            </a:r>
            <a:r>
              <a:rPr lang="en-ID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08C92-B429-5FE9-2CBD-5DAC8CF2A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731000" cy="515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016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1D26-7392-1C9D-D475-B78D43001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Hipotesis</a:t>
            </a:r>
            <a:r>
              <a:rPr lang="en-US" dirty="0"/>
              <a:t> 2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D1BA9-EB05-B223-14E0-6A4A3F317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H0: Tidak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CGPA dan </a:t>
            </a:r>
            <a:r>
              <a:rPr lang="en-ID" dirty="0" err="1"/>
              <a:t>Gaji</a:t>
            </a:r>
            <a:endParaRPr lang="en-ID" dirty="0"/>
          </a:p>
          <a:p>
            <a:r>
              <a:rPr lang="en-ID" dirty="0"/>
              <a:t>H1: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setidaknya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signifikan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CGPA dan </a:t>
            </a:r>
            <a:r>
              <a:rPr lang="en-ID" dirty="0" err="1"/>
              <a:t>Gaji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5323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D81E-C6B3-523B-A445-A37B7D6B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Cek </a:t>
            </a:r>
            <a:r>
              <a:rPr lang="en-US" dirty="0" err="1"/>
              <a:t>Normalitas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9C87-BB20-E030-2413-4F4670C97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6974" y="1825625"/>
            <a:ext cx="5076825" cy="4351338"/>
          </a:xfrm>
        </p:spPr>
        <p:txBody>
          <a:bodyPr/>
          <a:lstStyle/>
          <a:p>
            <a:pPr marL="0" indent="0">
              <a:buNone/>
            </a:pPr>
            <a:r>
              <a:rPr lang="en-ID" dirty="0" err="1"/>
              <a:t>Secara</a:t>
            </a:r>
            <a:r>
              <a:rPr lang="en-ID" dirty="0"/>
              <a:t> visual data </a:t>
            </a:r>
            <a:r>
              <a:rPr lang="en-ID" dirty="0" err="1"/>
              <a:t>terlihat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normal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bukit</a:t>
            </a:r>
            <a:r>
              <a:rPr lang="en-ID" dirty="0"/>
              <a:t> dan </a:t>
            </a:r>
            <a:r>
              <a:rPr lang="en-ID" dirty="0" err="1"/>
              <a:t>lembah</a:t>
            </a:r>
            <a:r>
              <a:rPr lang="en-ID" dirty="0"/>
              <a:t> yang </a:t>
            </a:r>
            <a:r>
              <a:rPr lang="en-ID" dirty="0" err="1"/>
              <a:t>ada</a:t>
            </a:r>
            <a:r>
              <a:rPr lang="en-ID" dirty="0"/>
              <a:t>. Maka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</a:t>
            </a:r>
            <a:r>
              <a:rPr lang="en-ID" dirty="0" err="1"/>
              <a:t>lakukan</a:t>
            </a:r>
            <a:r>
              <a:rPr lang="en-ID" dirty="0"/>
              <a:t> triple check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normalitas</a:t>
            </a:r>
            <a:r>
              <a:rPr lang="en-ID" dirty="0"/>
              <a:t> data.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3F3F8-AEF1-CDAD-9DD5-36612EED2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4387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72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E519-2611-AB26-6A57-075CA650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Cek </a:t>
            </a:r>
            <a:r>
              <a:rPr lang="en-US" dirty="0" err="1"/>
              <a:t>Normalitas</a:t>
            </a:r>
            <a:r>
              <a:rPr lang="en-US" dirty="0"/>
              <a:t> (cont.)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5949-8481-BB80-72D5-76349CF4D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800" y="1825625"/>
            <a:ext cx="5080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sz="2000" dirty="0"/>
              <a:t>Hasil </a:t>
            </a:r>
            <a:r>
              <a:rPr lang="en-ID" sz="2000" dirty="0" err="1"/>
              <a:t>perhitungan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skew </a:t>
            </a:r>
            <a:r>
              <a:rPr lang="en-ID" sz="2000" dirty="0" err="1"/>
              <a:t>menentukan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data </a:t>
            </a:r>
            <a:r>
              <a:rPr lang="en-ID" sz="2000" dirty="0" err="1"/>
              <a:t>masih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distribusi</a:t>
            </a:r>
            <a:r>
              <a:rPr lang="en-ID" sz="2000" dirty="0"/>
              <a:t> normal. </a:t>
            </a:r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ID" sz="2000" dirty="0" err="1"/>
              <a:t>Namun</a:t>
            </a:r>
            <a:r>
              <a:rPr lang="en-ID" sz="2000" dirty="0"/>
              <a:t>, </a:t>
            </a:r>
            <a:r>
              <a:rPr lang="en-ID" sz="2000" dirty="0" err="1"/>
              <a:t>bentuk</a:t>
            </a:r>
            <a:r>
              <a:rPr lang="en-ID" sz="2000" dirty="0"/>
              <a:t> visual </a:t>
            </a:r>
            <a:r>
              <a:rPr lang="en-ID" sz="2000" dirty="0" err="1"/>
              <a:t>menentukan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data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terdistribusi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normal, </a:t>
            </a:r>
            <a:r>
              <a:rPr lang="en-ID" sz="2000" dirty="0" err="1"/>
              <a:t>sehingga</a:t>
            </a:r>
            <a:r>
              <a:rPr lang="en-ID" sz="2000" dirty="0"/>
              <a:t> </a:t>
            </a:r>
            <a:r>
              <a:rPr lang="en-ID" sz="2000" dirty="0" err="1"/>
              <a:t>harus</a:t>
            </a:r>
            <a:r>
              <a:rPr lang="en-ID" sz="2000" dirty="0"/>
              <a:t> </a:t>
            </a:r>
            <a:r>
              <a:rPr lang="en-ID" sz="2000" dirty="0" err="1"/>
              <a:t>dilakukan</a:t>
            </a:r>
            <a:r>
              <a:rPr lang="en-ID" sz="2000" dirty="0"/>
              <a:t> </a:t>
            </a:r>
            <a:r>
              <a:rPr lang="en-ID" sz="2000" dirty="0" err="1"/>
              <a:t>pengecekan</a:t>
            </a:r>
            <a:r>
              <a:rPr lang="en-ID" sz="2000" dirty="0"/>
              <a:t> </a:t>
            </a:r>
            <a:r>
              <a:rPr lang="en-ID" sz="2000" dirty="0" err="1"/>
              <a:t>ulang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lain, </a:t>
            </a:r>
            <a:r>
              <a:rPr lang="en-ID" sz="2000" dirty="0" err="1"/>
              <a:t>yaitu</a:t>
            </a:r>
            <a:r>
              <a:rPr lang="en-ID" sz="2000" dirty="0"/>
              <a:t> Shapiro-Wilk method. </a:t>
            </a:r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ID" sz="2000" dirty="0"/>
              <a:t>Hasil yang </a:t>
            </a:r>
            <a:r>
              <a:rPr lang="en-ID" sz="2000" dirty="0" err="1"/>
              <a:t>didapatkan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normal </a:t>
            </a:r>
            <a:r>
              <a:rPr lang="en-ID" sz="2000" dirty="0" err="1"/>
              <a:t>sehingga</a:t>
            </a:r>
            <a:r>
              <a:rPr lang="en-ID" sz="2000" dirty="0"/>
              <a:t> </a:t>
            </a:r>
            <a:r>
              <a:rPr lang="en-ID" sz="2000" dirty="0" err="1"/>
              <a:t>distribusi</a:t>
            </a:r>
            <a:r>
              <a:rPr lang="en-ID" sz="2000" dirty="0"/>
              <a:t> </a:t>
            </a:r>
            <a:r>
              <a:rPr lang="en-ID" sz="2000" dirty="0" err="1"/>
              <a:t>merupakan</a:t>
            </a:r>
            <a:r>
              <a:rPr lang="en-ID" sz="2000" dirty="0"/>
              <a:t> non-</a:t>
            </a:r>
            <a:r>
              <a:rPr lang="en-ID" sz="2000" dirty="0" err="1"/>
              <a:t>parametrik</a:t>
            </a:r>
            <a:r>
              <a:rPr lang="en-ID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7DBEFB-BACC-0E9F-AE86-C9E1BD279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032125"/>
            <a:ext cx="5257801" cy="787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D38535-472F-FACE-F578-891DA999C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88898"/>
            <a:ext cx="5257801" cy="77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35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57E4-5BFD-475B-69E6-1748AFC00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Cek </a:t>
            </a:r>
            <a:r>
              <a:rPr lang="en-US" dirty="0" err="1"/>
              <a:t>Korelasi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98252-BC88-907B-1240-406EAA543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3800" y="1825625"/>
            <a:ext cx="5080000" cy="4351338"/>
          </a:xfrm>
        </p:spPr>
        <p:txBody>
          <a:bodyPr/>
          <a:lstStyle/>
          <a:p>
            <a:pPr marL="0" indent="0">
              <a:buNone/>
            </a:pPr>
            <a:r>
              <a:rPr lang="en-ID" dirty="0"/>
              <a:t>Hasil uji Kendall Tau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adanya</a:t>
            </a:r>
            <a:r>
              <a:rPr lang="en-ID" dirty="0"/>
              <a:t> </a:t>
            </a:r>
            <a:r>
              <a:rPr lang="en-ID" dirty="0" err="1"/>
              <a:t>korelasi</a:t>
            </a:r>
            <a:r>
              <a:rPr lang="en-ID" dirty="0"/>
              <a:t> </a:t>
            </a:r>
            <a:r>
              <a:rPr lang="en-ID" dirty="0" err="1"/>
              <a:t>positif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CGPA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Gaji</a:t>
            </a:r>
            <a:r>
              <a:rPr lang="en-ID" dirty="0"/>
              <a:t> (p-value &lt; 0.05). </a:t>
            </a:r>
            <a:r>
              <a:rPr lang="en-ID" dirty="0" err="1"/>
              <a:t>Namun</a:t>
            </a:r>
            <a:r>
              <a:rPr lang="en-ID" dirty="0"/>
              <a:t>,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koefisien</a:t>
            </a:r>
            <a:r>
              <a:rPr lang="en-ID" dirty="0"/>
              <a:t> sangat </a:t>
            </a:r>
            <a:r>
              <a:rPr lang="en-ID" dirty="0" err="1"/>
              <a:t>kecil</a:t>
            </a:r>
            <a:r>
              <a:rPr lang="en-ID" dirty="0"/>
              <a:t> (Tau = 0.0575) yang </a:t>
            </a:r>
            <a:r>
              <a:rPr lang="en-ID" dirty="0" err="1"/>
              <a:t>mengindikasi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lemah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9B2E9-E550-956A-987B-9E05936E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7526"/>
            <a:ext cx="5257800" cy="863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56014D-5D77-3A3E-51FC-816AF3A43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651200"/>
            <a:ext cx="4902200" cy="412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32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4CEB-484E-26A9-3B81-55583934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 </a:t>
            </a:r>
            <a:r>
              <a:rPr lang="en-US" dirty="0" err="1"/>
              <a:t>Hipotesis</a:t>
            </a:r>
            <a:r>
              <a:rPr lang="en-US" dirty="0"/>
              <a:t> 1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BC6F0-686A-C961-722C-609D7C6DF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1800" dirty="0" err="1"/>
              <a:t>Hipotesis</a:t>
            </a:r>
            <a:r>
              <a:rPr lang="en-ID" sz="1800" dirty="0"/>
              <a:t> 1: </a:t>
            </a:r>
            <a:r>
              <a:rPr lang="en-ID" sz="1800" dirty="0" err="1"/>
              <a:t>Apakah</a:t>
            </a:r>
            <a:r>
              <a:rPr lang="en-ID" sz="1800" dirty="0"/>
              <a:t> </a:t>
            </a:r>
            <a:r>
              <a:rPr lang="en-ID" sz="1800" dirty="0" err="1"/>
              <a:t>jurusan</a:t>
            </a:r>
            <a:r>
              <a:rPr lang="en-ID" sz="1800" dirty="0"/>
              <a:t> </a:t>
            </a:r>
            <a:r>
              <a:rPr lang="en-ID" sz="1800" dirty="0" err="1"/>
              <a:t>mempengaruhi</a:t>
            </a:r>
            <a:r>
              <a:rPr lang="en-ID" sz="1800" dirty="0"/>
              <a:t> </a:t>
            </a:r>
            <a:r>
              <a:rPr lang="en-ID" sz="1800" dirty="0" err="1"/>
              <a:t>gaji</a:t>
            </a:r>
            <a:r>
              <a:rPr lang="en-ID" sz="1800" dirty="0"/>
              <a:t>?</a:t>
            </a:r>
          </a:p>
          <a:p>
            <a:pPr marL="0" indent="0">
              <a:buNone/>
            </a:pPr>
            <a:r>
              <a:rPr lang="en-ID" sz="1800" dirty="0" err="1"/>
              <a:t>Jawaban</a:t>
            </a:r>
            <a:r>
              <a:rPr lang="en-ID" sz="1800" dirty="0"/>
              <a:t>: Tidak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signifikan</a:t>
            </a:r>
            <a:endParaRPr lang="en-ID" sz="1800" dirty="0"/>
          </a:p>
          <a:p>
            <a:pPr marL="0" indent="0">
              <a:buNone/>
            </a:pPr>
            <a:endParaRPr lang="en-ID" sz="1800" dirty="0"/>
          </a:p>
          <a:p>
            <a:pPr marL="0" indent="0">
              <a:buNone/>
            </a:pPr>
            <a:r>
              <a:rPr lang="en-ID" sz="1800" dirty="0" err="1"/>
              <a:t>Berdasarkan</a:t>
            </a:r>
            <a:r>
              <a:rPr lang="en-ID" sz="1800" dirty="0"/>
              <a:t> dua </a:t>
            </a:r>
            <a:r>
              <a:rPr lang="en-ID" sz="1800" dirty="0" err="1"/>
              <a:t>pengujian</a:t>
            </a:r>
            <a:r>
              <a:rPr lang="en-ID" sz="1800" dirty="0"/>
              <a:t> </a:t>
            </a:r>
            <a:r>
              <a:rPr lang="en-ID" sz="1800" dirty="0" err="1"/>
              <a:t>statistik</a:t>
            </a:r>
            <a:r>
              <a:rPr lang="en-ID" sz="1800" dirty="0"/>
              <a:t>:</a:t>
            </a:r>
          </a:p>
          <a:p>
            <a:r>
              <a:rPr lang="en-ID" sz="1800" dirty="0"/>
              <a:t>Kendall Tau </a:t>
            </a:r>
            <a:r>
              <a:rPr lang="en-ID" sz="1800" dirty="0" err="1"/>
              <a:t>menunjukkan</a:t>
            </a:r>
            <a:r>
              <a:rPr lang="en-ID" sz="1800" dirty="0"/>
              <a:t> </a:t>
            </a:r>
            <a:r>
              <a:rPr lang="en-ID" sz="1800" dirty="0" err="1"/>
              <a:t>koefisien</a:t>
            </a:r>
            <a:r>
              <a:rPr lang="en-ID" sz="1800" dirty="0"/>
              <a:t> </a:t>
            </a:r>
            <a:r>
              <a:rPr lang="en-ID" sz="1800" dirty="0" err="1"/>
              <a:t>korelasi</a:t>
            </a:r>
            <a:r>
              <a:rPr lang="en-ID" sz="1800" dirty="0"/>
              <a:t> yang sangat </a:t>
            </a:r>
            <a:r>
              <a:rPr lang="en-ID" sz="1800" dirty="0" err="1"/>
              <a:t>kecil</a:t>
            </a:r>
            <a:r>
              <a:rPr lang="en-ID" sz="1800" dirty="0"/>
              <a:t> </a:t>
            </a:r>
            <a:r>
              <a:rPr lang="en-ID" sz="1800" dirty="0" err="1"/>
              <a:t>antara</a:t>
            </a:r>
            <a:r>
              <a:rPr lang="en-ID" sz="1800" dirty="0"/>
              <a:t> </a:t>
            </a:r>
            <a:r>
              <a:rPr lang="en-ID" sz="1800" dirty="0" err="1"/>
              <a:t>jurusan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gaji</a:t>
            </a:r>
            <a:r>
              <a:rPr lang="en-ID" sz="1800" dirty="0"/>
              <a:t> (p-value </a:t>
            </a:r>
            <a:r>
              <a:rPr lang="en-ID" sz="1800" dirty="0" err="1"/>
              <a:t>sebesar</a:t>
            </a:r>
            <a:r>
              <a:rPr lang="en-ID" sz="1800" dirty="0"/>
              <a:t> 0.8). </a:t>
            </a:r>
            <a:r>
              <a:rPr lang="en-ID" sz="1800" dirty="0" err="1"/>
              <a:t>Artinya</a:t>
            </a:r>
            <a:r>
              <a:rPr lang="en-ID" sz="1800" dirty="0"/>
              <a:t>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kemungkinan</a:t>
            </a:r>
            <a:r>
              <a:rPr lang="en-ID" sz="1800" dirty="0"/>
              <a:t> </a:t>
            </a:r>
            <a:r>
              <a:rPr lang="en-ID" sz="1800" dirty="0" err="1"/>
              <a:t>terjadi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kebetulan</a:t>
            </a:r>
            <a:r>
              <a:rPr lang="en-ID" sz="1800" dirty="0"/>
              <a:t>.</a:t>
            </a:r>
          </a:p>
          <a:p>
            <a:r>
              <a:rPr lang="en-ID" sz="1800" dirty="0"/>
              <a:t>Kruskal-Wallis </a:t>
            </a:r>
            <a:r>
              <a:rPr lang="en-ID" sz="1800" dirty="0" err="1"/>
              <a:t>menginformasikan</a:t>
            </a:r>
            <a:r>
              <a:rPr lang="en-ID" sz="1800" dirty="0"/>
              <a:t> p-value </a:t>
            </a:r>
            <a:r>
              <a:rPr lang="en-ID" sz="1800" dirty="0" err="1"/>
              <a:t>sebesar</a:t>
            </a:r>
            <a:r>
              <a:rPr lang="en-ID" sz="1800" dirty="0"/>
              <a:t> 0.076 (alpha &gt; 0.05), </a:t>
            </a:r>
            <a:r>
              <a:rPr lang="en-ID" sz="1800" dirty="0" err="1"/>
              <a:t>sehingga</a:t>
            </a:r>
            <a:r>
              <a:rPr lang="en-ID" sz="1800" dirty="0"/>
              <a:t> </a:t>
            </a:r>
            <a:r>
              <a:rPr lang="en-ID" sz="1800" dirty="0" err="1"/>
              <a:t>gagal</a:t>
            </a:r>
            <a:r>
              <a:rPr lang="en-ID" sz="1800" dirty="0"/>
              <a:t> </a:t>
            </a:r>
            <a:r>
              <a:rPr lang="en-ID" sz="1800" dirty="0" err="1"/>
              <a:t>menolak</a:t>
            </a:r>
            <a:r>
              <a:rPr lang="en-ID" sz="1800" dirty="0"/>
              <a:t> H0. </a:t>
            </a:r>
            <a:r>
              <a:rPr lang="en-ID" sz="1800" dirty="0" err="1"/>
              <a:t>Artinya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ada</a:t>
            </a:r>
            <a:r>
              <a:rPr lang="en-ID" sz="1800" dirty="0"/>
              <a:t> </a:t>
            </a:r>
            <a:r>
              <a:rPr lang="en-ID" sz="1800" dirty="0" err="1"/>
              <a:t>perbedaan</a:t>
            </a:r>
            <a:r>
              <a:rPr lang="en-ID" sz="1800" dirty="0"/>
              <a:t> rata-rata </a:t>
            </a:r>
            <a:r>
              <a:rPr lang="en-ID" sz="1800" dirty="0" err="1"/>
              <a:t>gaji</a:t>
            </a:r>
            <a:r>
              <a:rPr lang="en-ID" sz="1800" dirty="0"/>
              <a:t> yang </a:t>
            </a:r>
            <a:r>
              <a:rPr lang="en-ID" sz="1800" dirty="0" err="1"/>
              <a:t>signifikan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statistik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</a:t>
            </a:r>
            <a:r>
              <a:rPr lang="en-ID" sz="1800" dirty="0" err="1"/>
              <a:t>jurusan</a:t>
            </a:r>
            <a:r>
              <a:rPr lang="en-ID" sz="1800" dirty="0"/>
              <a:t>.</a:t>
            </a:r>
            <a:br>
              <a:rPr lang="en-ID" sz="1800" dirty="0"/>
            </a:br>
            <a:endParaRPr lang="en-ID" sz="1800" dirty="0"/>
          </a:p>
          <a:p>
            <a:pPr marL="0" indent="0">
              <a:buNone/>
            </a:pPr>
            <a:r>
              <a:rPr lang="en-ID" sz="1800" dirty="0" err="1"/>
              <a:t>Meskipun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deskriptif</a:t>
            </a:r>
            <a:r>
              <a:rPr lang="en-ID" sz="1800" dirty="0"/>
              <a:t> </a:t>
            </a:r>
            <a:r>
              <a:rPr lang="en-ID" sz="1800" dirty="0" err="1"/>
              <a:t>terlihat</a:t>
            </a:r>
            <a:r>
              <a:rPr lang="en-ID" sz="1800" dirty="0"/>
              <a:t> </a:t>
            </a:r>
            <a:r>
              <a:rPr lang="en-ID" sz="1800" dirty="0" err="1"/>
              <a:t>bahwa</a:t>
            </a:r>
            <a:r>
              <a:rPr lang="en-ID" sz="1800" dirty="0"/>
              <a:t> </a:t>
            </a:r>
            <a:r>
              <a:rPr lang="en-ID" sz="1800" dirty="0" err="1"/>
              <a:t>ada</a:t>
            </a:r>
            <a:r>
              <a:rPr lang="en-ID" sz="1800" dirty="0"/>
              <a:t> </a:t>
            </a:r>
            <a:r>
              <a:rPr lang="en-ID" sz="1800" dirty="0" err="1"/>
              <a:t>perbedaan</a:t>
            </a:r>
            <a:r>
              <a:rPr lang="en-ID" sz="1800" dirty="0"/>
              <a:t> </a:t>
            </a:r>
            <a:r>
              <a:rPr lang="en-ID" sz="1800" dirty="0" err="1"/>
              <a:t>seperti</a:t>
            </a:r>
            <a:r>
              <a:rPr lang="en-ID" sz="1800" dirty="0"/>
              <a:t> Mechanical dan CSE di </a:t>
            </a:r>
            <a:r>
              <a:rPr lang="en-ID" sz="1800" dirty="0" err="1"/>
              <a:t>bawah</a:t>
            </a:r>
            <a:r>
              <a:rPr lang="en-ID" sz="1800" dirty="0"/>
              <a:t> rata-rata </a:t>
            </a:r>
            <a:r>
              <a:rPr lang="en-ID" sz="1800" dirty="0" err="1"/>
              <a:t>keseluruhan</a:t>
            </a:r>
            <a:r>
              <a:rPr lang="en-ID" sz="1800" dirty="0"/>
              <a:t>, </a:t>
            </a:r>
            <a:r>
              <a:rPr lang="en-ID" sz="1800" dirty="0" err="1"/>
              <a:t>perbedaan</a:t>
            </a:r>
            <a:r>
              <a:rPr lang="en-ID" sz="1800" dirty="0"/>
              <a:t> </a:t>
            </a:r>
            <a:r>
              <a:rPr lang="en-ID" sz="1800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cukup</a:t>
            </a:r>
            <a:r>
              <a:rPr lang="en-ID" sz="1800" dirty="0"/>
              <a:t> </a:t>
            </a:r>
            <a:r>
              <a:rPr lang="en-ID" sz="1800" dirty="0" err="1"/>
              <a:t>kuat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dinyatakan</a:t>
            </a:r>
            <a:r>
              <a:rPr lang="en-ID" sz="1800" dirty="0"/>
              <a:t> </a:t>
            </a:r>
            <a:r>
              <a:rPr lang="en-ID" sz="1800" dirty="0" err="1"/>
              <a:t>bermakna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statistik</a:t>
            </a:r>
            <a:r>
              <a:rPr lang="en-ID" sz="1800" dirty="0"/>
              <a:t>.</a:t>
            </a:r>
          </a:p>
          <a:p>
            <a:pPr marL="0" indent="0">
              <a:buNone/>
            </a:pPr>
            <a:endParaRPr lang="en-ID" sz="1800" dirty="0"/>
          </a:p>
        </p:txBody>
      </p:sp>
    </p:spTree>
    <p:extLst>
      <p:ext uri="{BB962C8B-B14F-4D97-AF65-F5344CB8AC3E}">
        <p14:creationId xmlns:p14="http://schemas.microsoft.com/office/powerpoint/2010/main" val="289750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08C8-6706-0ED8-C8C2-17E67A77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 </a:t>
            </a:r>
            <a:r>
              <a:rPr lang="en-US" dirty="0" err="1"/>
              <a:t>Hipotesis</a:t>
            </a:r>
            <a:r>
              <a:rPr lang="en-US" dirty="0"/>
              <a:t> 2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ECB51-A8AA-1362-2EF1-7244915F1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000" dirty="0" err="1"/>
              <a:t>Hipotesis</a:t>
            </a:r>
            <a:r>
              <a:rPr lang="en-ID" sz="2000" dirty="0"/>
              <a:t> 2: </a:t>
            </a:r>
            <a:r>
              <a:rPr lang="en-ID" sz="2000" dirty="0" err="1"/>
              <a:t>Apakah</a:t>
            </a:r>
            <a:r>
              <a:rPr lang="en-ID" sz="2000" dirty="0"/>
              <a:t> CGPA </a:t>
            </a:r>
            <a:r>
              <a:rPr lang="en-ID" sz="2000" dirty="0" err="1"/>
              <a:t>berhubungan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gaji</a:t>
            </a:r>
            <a:r>
              <a:rPr lang="en-ID" sz="2000" dirty="0"/>
              <a:t>?</a:t>
            </a:r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ID" sz="2000" dirty="0" err="1"/>
              <a:t>Jawaban</a:t>
            </a:r>
            <a:r>
              <a:rPr lang="en-ID" sz="2000" dirty="0"/>
              <a:t>: Ada </a:t>
            </a:r>
            <a:r>
              <a:rPr lang="en-ID" sz="2000" dirty="0" err="1"/>
              <a:t>hubungan</a:t>
            </a:r>
            <a:r>
              <a:rPr lang="en-ID" sz="2000" dirty="0"/>
              <a:t>, </a:t>
            </a:r>
            <a:r>
              <a:rPr lang="en-ID" sz="2000" dirty="0" err="1"/>
              <a:t>tapi</a:t>
            </a:r>
            <a:r>
              <a:rPr lang="en-ID" sz="2000" dirty="0"/>
              <a:t> sangat </a:t>
            </a:r>
            <a:r>
              <a:rPr lang="en-ID" sz="2000" dirty="0" err="1"/>
              <a:t>lemah</a:t>
            </a:r>
            <a:endParaRPr lang="en-ID" sz="2000" dirty="0"/>
          </a:p>
          <a:p>
            <a:r>
              <a:rPr lang="en-ID" sz="2000" dirty="0"/>
              <a:t>Kendall Tau </a:t>
            </a:r>
            <a:r>
              <a:rPr lang="en-ID" sz="2000" dirty="0" err="1"/>
              <a:t>menunjukkan</a:t>
            </a:r>
            <a:r>
              <a:rPr lang="en-ID" sz="2000" dirty="0"/>
              <a:t> </a:t>
            </a:r>
            <a:r>
              <a:rPr lang="en-ID" sz="2000" dirty="0" err="1"/>
              <a:t>korelasi</a:t>
            </a:r>
            <a:r>
              <a:rPr lang="en-ID" sz="2000" dirty="0"/>
              <a:t> CGPA dan </a:t>
            </a:r>
            <a:r>
              <a:rPr lang="en-ID" sz="2000" dirty="0" err="1"/>
              <a:t>Gaji</a:t>
            </a:r>
            <a:r>
              <a:rPr lang="en-ID" sz="2000" dirty="0"/>
              <a:t> </a:t>
            </a:r>
            <a:r>
              <a:rPr lang="en-ID" sz="2000" dirty="0" err="1"/>
              <a:t>membuahkan</a:t>
            </a:r>
            <a:r>
              <a:rPr lang="en-ID" sz="2000" dirty="0"/>
              <a:t> </a:t>
            </a:r>
            <a:r>
              <a:rPr lang="en-ID" sz="2000" dirty="0" err="1"/>
              <a:t>korelasi</a:t>
            </a:r>
            <a:r>
              <a:rPr lang="en-ID" sz="2000" dirty="0"/>
              <a:t> </a:t>
            </a:r>
            <a:r>
              <a:rPr lang="en-ID" sz="2000" dirty="0" err="1"/>
              <a:t>positif</a:t>
            </a:r>
            <a:r>
              <a:rPr lang="en-ID" sz="2000" dirty="0"/>
              <a:t> yang </a:t>
            </a:r>
            <a:r>
              <a:rPr lang="en-ID" sz="2000" dirty="0" err="1"/>
              <a:t>signifikan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p-value di </a:t>
            </a:r>
            <a:r>
              <a:rPr lang="en-ID" sz="2000" dirty="0" err="1"/>
              <a:t>bawah</a:t>
            </a:r>
            <a:r>
              <a:rPr lang="en-ID" sz="2000" dirty="0"/>
              <a:t> 0.05, </a:t>
            </a:r>
            <a:r>
              <a:rPr lang="en-ID" sz="2000" dirty="0" err="1"/>
              <a:t>artinya</a:t>
            </a:r>
            <a:r>
              <a:rPr lang="en-ID" sz="2000" dirty="0"/>
              <a:t> </a:t>
            </a:r>
            <a:r>
              <a:rPr lang="en-ID" sz="2000" dirty="0" err="1"/>
              <a:t>hubungan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bukan</a:t>
            </a:r>
            <a:r>
              <a:rPr lang="en-ID" sz="2000" dirty="0"/>
              <a:t> </a:t>
            </a:r>
            <a:r>
              <a:rPr lang="en-ID" sz="2000" dirty="0" err="1"/>
              <a:t>kebetulan</a:t>
            </a:r>
            <a:r>
              <a:rPr lang="en-ID" sz="2000" dirty="0"/>
              <a:t>.</a:t>
            </a:r>
          </a:p>
          <a:p>
            <a:r>
              <a:rPr lang="en-ID" sz="2000" dirty="0" err="1"/>
              <a:t>Namun</a:t>
            </a:r>
            <a:r>
              <a:rPr lang="en-ID" sz="2000" dirty="0"/>
              <a:t>, </a:t>
            </a:r>
            <a:r>
              <a:rPr lang="en-ID" sz="2000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koefisien</a:t>
            </a:r>
            <a:r>
              <a:rPr lang="en-ID" sz="2000" dirty="0"/>
              <a:t> tau yang </a:t>
            </a:r>
            <a:r>
              <a:rPr lang="en-ID" sz="2000" dirty="0" err="1"/>
              <a:t>dihasilkan</a:t>
            </a:r>
            <a:r>
              <a:rPr lang="en-ID" sz="2000" dirty="0"/>
              <a:t> (tau = 0.0575) sangat </a:t>
            </a:r>
            <a:r>
              <a:rPr lang="en-ID" sz="2000" dirty="0" err="1"/>
              <a:t>kecil</a:t>
            </a:r>
            <a:r>
              <a:rPr lang="en-ID" sz="2000" dirty="0"/>
              <a:t> </a:t>
            </a:r>
            <a:r>
              <a:rPr lang="en-ID" sz="2000" dirty="0" err="1"/>
              <a:t>sehingga</a:t>
            </a:r>
            <a:r>
              <a:rPr lang="en-ID" sz="2000" dirty="0"/>
              <a:t> </a:t>
            </a:r>
            <a:r>
              <a:rPr lang="en-ID" sz="2000" dirty="0" err="1"/>
              <a:t>kekuatan</a:t>
            </a:r>
            <a:r>
              <a:rPr lang="en-ID" sz="2000" dirty="0"/>
              <a:t> </a:t>
            </a:r>
            <a:r>
              <a:rPr lang="en-ID" sz="2000" dirty="0" err="1"/>
              <a:t>hubungannya</a:t>
            </a:r>
            <a:r>
              <a:rPr lang="en-ID" sz="2000" dirty="0"/>
              <a:t> sangat </a:t>
            </a:r>
            <a:r>
              <a:rPr lang="en-ID" sz="2000" dirty="0" err="1"/>
              <a:t>lemah</a:t>
            </a:r>
            <a:r>
              <a:rPr lang="en-ID" sz="2000" dirty="0"/>
              <a:t>, </a:t>
            </a:r>
            <a:r>
              <a:rPr lang="en-ID" sz="2000" dirty="0" err="1"/>
              <a:t>meskipun</a:t>
            </a:r>
            <a:r>
              <a:rPr lang="en-ID" sz="2000" dirty="0"/>
              <a:t> </a:t>
            </a:r>
            <a:r>
              <a:rPr lang="en-ID" sz="2000" dirty="0" err="1"/>
              <a:t>semakin</a:t>
            </a:r>
            <a:r>
              <a:rPr lang="en-ID" sz="2000" dirty="0"/>
              <a:t> </a:t>
            </a:r>
            <a:r>
              <a:rPr lang="en-ID" sz="2000" dirty="0" err="1"/>
              <a:t>tinggai</a:t>
            </a:r>
            <a:r>
              <a:rPr lang="en-ID" sz="2000" dirty="0"/>
              <a:t> CGPA </a:t>
            </a:r>
            <a:r>
              <a:rPr lang="en-ID" sz="2000" dirty="0" err="1"/>
              <a:t>cenderung</a:t>
            </a:r>
            <a:r>
              <a:rPr lang="en-ID" sz="2000" dirty="0"/>
              <a:t> </a:t>
            </a:r>
            <a:r>
              <a:rPr lang="en-ID" sz="2000" dirty="0" err="1"/>
              <a:t>menghasilkan</a:t>
            </a:r>
            <a:r>
              <a:rPr lang="en-ID" sz="2000" dirty="0"/>
              <a:t> </a:t>
            </a:r>
            <a:r>
              <a:rPr lang="en-ID" sz="2000" dirty="0" err="1"/>
              <a:t>Gaji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tinggi</a:t>
            </a:r>
            <a:r>
              <a:rPr lang="en-ID" sz="2000" dirty="0"/>
              <a:t>.</a:t>
            </a:r>
          </a:p>
          <a:p>
            <a:pPr marL="0" indent="0">
              <a:buNone/>
            </a:pP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852713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5B48-14C3-D98D-9D30-C07065069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 dan </a:t>
            </a:r>
            <a:r>
              <a:rPr lang="en-US" dirty="0" err="1"/>
              <a:t>Rekomendasi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133FC-A4E2-D7CB-B48D-C39EFF258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000" dirty="0" err="1"/>
              <a:t>Temuan</a:t>
            </a:r>
            <a:r>
              <a:rPr lang="en-ID" sz="2000" dirty="0"/>
              <a:t> </a:t>
            </a:r>
            <a:r>
              <a:rPr lang="en-ID" sz="2000" dirty="0" err="1"/>
              <a:t>pengujian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menujukkan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ID" sz="2000" dirty="0" err="1"/>
              <a:t>jurusan</a:t>
            </a:r>
            <a:r>
              <a:rPr lang="en-ID" sz="2000" dirty="0"/>
              <a:t> </a:t>
            </a:r>
            <a:r>
              <a:rPr lang="en-ID" sz="2000" dirty="0" err="1"/>
              <a:t>maupun</a:t>
            </a:r>
            <a:r>
              <a:rPr lang="en-ID" sz="2000" dirty="0"/>
              <a:t> </a:t>
            </a:r>
            <a:r>
              <a:rPr lang="en-ID" sz="2000" dirty="0" err="1"/>
              <a:t>nilai</a:t>
            </a:r>
            <a:r>
              <a:rPr lang="en-ID" sz="2000" dirty="0"/>
              <a:t> </a:t>
            </a:r>
            <a:r>
              <a:rPr lang="en-ID" sz="2000" dirty="0" err="1"/>
              <a:t>akademik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cukup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memprediksi</a:t>
            </a:r>
            <a:r>
              <a:rPr lang="en-ID" sz="2000" dirty="0"/>
              <a:t> </a:t>
            </a:r>
            <a:r>
              <a:rPr lang="en-ID" sz="2000" dirty="0" err="1"/>
              <a:t>gaji</a:t>
            </a:r>
            <a:r>
              <a:rPr lang="en-ID" sz="2000" dirty="0"/>
              <a:t> </a:t>
            </a:r>
            <a:r>
              <a:rPr lang="en-ID" sz="2000" dirty="0" err="1"/>
              <a:t>lulusan</a:t>
            </a:r>
            <a:r>
              <a:rPr lang="en-ID" sz="2000" dirty="0"/>
              <a:t>. </a:t>
            </a:r>
            <a:r>
              <a:rPr lang="en-ID" sz="2000" dirty="0" err="1"/>
              <a:t>Terdapat</a:t>
            </a:r>
            <a:r>
              <a:rPr lang="en-ID" sz="2000" dirty="0"/>
              <a:t> </a:t>
            </a:r>
            <a:r>
              <a:rPr lang="en-ID" sz="2000" dirty="0" err="1"/>
              <a:t>faktor</a:t>
            </a:r>
            <a:r>
              <a:rPr lang="en-ID" sz="2000" dirty="0"/>
              <a:t> lain pada dataset </a:t>
            </a:r>
            <a:r>
              <a:rPr lang="en-ID" sz="2000" dirty="0" err="1"/>
              <a:t>ini</a:t>
            </a:r>
            <a:r>
              <a:rPr lang="en-ID" sz="2000" dirty="0"/>
              <a:t>, 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pengalaman</a:t>
            </a:r>
            <a:r>
              <a:rPr lang="en-ID" sz="2000" dirty="0"/>
              <a:t> </a:t>
            </a:r>
            <a:r>
              <a:rPr lang="en-ID" sz="2000" dirty="0" err="1"/>
              <a:t>magang</a:t>
            </a:r>
            <a:r>
              <a:rPr lang="en-ID" sz="2000" dirty="0"/>
              <a:t>, </a:t>
            </a:r>
            <a:r>
              <a:rPr lang="en-ID" sz="2000" i="1" dirty="0" err="1"/>
              <a:t>softskill</a:t>
            </a:r>
            <a:r>
              <a:rPr lang="en-ID" sz="2000" dirty="0"/>
              <a:t>, </a:t>
            </a:r>
            <a:r>
              <a:rPr lang="en-ID" sz="2000" dirty="0" err="1"/>
              <a:t>keterampilan</a:t>
            </a:r>
            <a:r>
              <a:rPr lang="en-ID" sz="2000" dirty="0"/>
              <a:t> </a:t>
            </a:r>
            <a:r>
              <a:rPr lang="en-ID" sz="2000" dirty="0" err="1"/>
              <a:t>teknis</a:t>
            </a:r>
            <a:r>
              <a:rPr lang="en-ID" sz="2000" dirty="0"/>
              <a:t>, dan lain-lain, </a:t>
            </a:r>
            <a:r>
              <a:rPr lang="en-ID" sz="2000" dirty="0" err="1"/>
              <a:t>memungkinkan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pengaruh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besar</a:t>
            </a:r>
            <a:r>
              <a:rPr lang="en-ID" sz="2000" dirty="0"/>
              <a:t> </a:t>
            </a:r>
            <a:r>
              <a:rPr lang="en-ID" sz="2000" dirty="0" err="1"/>
              <a:t>terhadap</a:t>
            </a:r>
            <a:r>
              <a:rPr lang="en-ID" sz="2000" dirty="0"/>
              <a:t> </a:t>
            </a:r>
            <a:r>
              <a:rPr lang="en-ID" sz="2000" dirty="0" err="1"/>
              <a:t>gaji</a:t>
            </a:r>
            <a:r>
              <a:rPr lang="en-ID" sz="2000" dirty="0"/>
              <a:t> alumni. </a:t>
            </a:r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r>
              <a:rPr lang="en-ID" sz="2000" dirty="0"/>
              <a:t>Oleh </a:t>
            </a:r>
            <a:r>
              <a:rPr lang="en-ID" sz="2000" dirty="0" err="1"/>
              <a:t>karena</a:t>
            </a:r>
            <a:r>
              <a:rPr lang="en-ID" sz="2000" dirty="0"/>
              <a:t> </a:t>
            </a:r>
            <a:r>
              <a:rPr lang="en-ID" sz="2000" dirty="0" err="1"/>
              <a:t>itu</a:t>
            </a:r>
            <a:r>
              <a:rPr lang="en-ID" sz="2000" dirty="0"/>
              <a:t>, </a:t>
            </a:r>
            <a:r>
              <a:rPr lang="en-ID" sz="2000" dirty="0" err="1"/>
              <a:t>analisa</a:t>
            </a:r>
            <a:r>
              <a:rPr lang="en-ID" sz="2000" dirty="0"/>
              <a:t> </a:t>
            </a:r>
            <a:r>
              <a:rPr lang="en-ID" sz="2000" dirty="0" err="1"/>
              <a:t>perlu</a:t>
            </a:r>
            <a:r>
              <a:rPr lang="en-ID" sz="2000" dirty="0"/>
              <a:t> </a:t>
            </a:r>
            <a:r>
              <a:rPr lang="en-ID" sz="2000" dirty="0" err="1"/>
              <a:t>melihat</a:t>
            </a:r>
            <a:r>
              <a:rPr lang="en-ID" sz="2000" dirty="0"/>
              <a:t> </a:t>
            </a:r>
            <a:r>
              <a:rPr lang="en-ID" sz="2000" dirty="0" err="1"/>
              <a:t>aspek</a:t>
            </a:r>
            <a:r>
              <a:rPr lang="en-ID" sz="2000" dirty="0"/>
              <a:t> yang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luas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meningkatkan</a:t>
            </a:r>
            <a:r>
              <a:rPr lang="en-ID" sz="2000" dirty="0"/>
              <a:t> </a:t>
            </a:r>
            <a:r>
              <a:rPr lang="en-ID" sz="2000" dirty="0" err="1"/>
              <a:t>kualitas</a:t>
            </a:r>
            <a:r>
              <a:rPr lang="en-ID" sz="2000" dirty="0"/>
              <a:t> dan </a:t>
            </a:r>
            <a:r>
              <a:rPr lang="en-ID" sz="2000" dirty="0" err="1"/>
              <a:t>daya</a:t>
            </a:r>
            <a:r>
              <a:rPr lang="en-ID" sz="2000" dirty="0"/>
              <a:t> </a:t>
            </a:r>
            <a:r>
              <a:rPr lang="en-ID" sz="2000" dirty="0" err="1"/>
              <a:t>saing</a:t>
            </a:r>
            <a:r>
              <a:rPr lang="en-ID" sz="2000" dirty="0"/>
              <a:t> </a:t>
            </a:r>
            <a:r>
              <a:rPr lang="en-ID" sz="2000" dirty="0" err="1"/>
              <a:t>lulusan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akreditasi</a:t>
            </a:r>
            <a:r>
              <a:rPr lang="en-ID" sz="2000" dirty="0"/>
              <a:t> </a:t>
            </a:r>
            <a:r>
              <a:rPr lang="en-ID" sz="2000" dirty="0" err="1"/>
              <a:t>sesuai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tujuan</a:t>
            </a:r>
            <a:r>
              <a:rPr lang="en-ID" sz="2000" dirty="0"/>
              <a:t> yang </a:t>
            </a:r>
            <a:r>
              <a:rPr lang="en-ID" sz="2000" dirty="0" err="1"/>
              <a:t>diinginkan</a:t>
            </a:r>
            <a:r>
              <a:rPr lang="en-ID" sz="2000" dirty="0"/>
              <a:t>.</a:t>
            </a:r>
          </a:p>
          <a:p>
            <a:pPr marL="0" indent="0">
              <a:buNone/>
            </a:pP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947163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937650-8A91-C770-5202-D9869762E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  <a:endParaRPr lang="en-ID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CE42BF-14FA-0613-528B-0478F965F1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8990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988</Words>
  <Application>Microsoft Office PowerPoint</Application>
  <PresentationFormat>Widescreen</PresentationFormat>
  <Paragraphs>173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Analisis Pengaruh Jurusan dan CGPA terdahap Gaji Alumni</vt:lpstr>
      <vt:lpstr>Background</vt:lpstr>
      <vt:lpstr>Problem Statement</vt:lpstr>
      <vt:lpstr>Dataset</vt:lpstr>
      <vt:lpstr>Flow Pengerjaan</vt:lpstr>
      <vt:lpstr>Data Cleaning</vt:lpstr>
      <vt:lpstr>Statistik Deskriptif 1</vt:lpstr>
      <vt:lpstr>Statistika Deskriptif 1 (cont.)</vt:lpstr>
      <vt:lpstr>Hipotesis 1</vt:lpstr>
      <vt:lpstr>Cek Normalitas</vt:lpstr>
      <vt:lpstr>Cek Korelasi dan Tes Hipotesis</vt:lpstr>
      <vt:lpstr>Statistika Deskriptif 2</vt:lpstr>
      <vt:lpstr>Statistika Deskriptif 2 (cont.)</vt:lpstr>
      <vt:lpstr>Hipotesis 2</vt:lpstr>
      <vt:lpstr>Cek Normalitas</vt:lpstr>
      <vt:lpstr>Cek Normalitas (cont.)</vt:lpstr>
      <vt:lpstr>Cek Korelasi</vt:lpstr>
      <vt:lpstr>Kesimpulan Hipotesis 1</vt:lpstr>
      <vt:lpstr>Kesimpulan Hipotesis 2</vt:lpstr>
      <vt:lpstr>Kesimpulan dan Rekomendasi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FARADAY BARR FATAHILLAH</dc:creator>
  <cp:lastModifiedBy>FARADAY BARR FATAHILLAH</cp:lastModifiedBy>
  <cp:revision>2</cp:revision>
  <dcterms:created xsi:type="dcterms:W3CDTF">2026-05-06T14:18:25Z</dcterms:created>
  <dcterms:modified xsi:type="dcterms:W3CDTF">2026-05-06T15:09:40Z</dcterms:modified>
</cp:coreProperties>
</file>